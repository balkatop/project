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8"/>
  </p:notesMasterIdLst>
  <p:sldIdLst>
    <p:sldId id="256" r:id="rId2"/>
    <p:sldId id="260" r:id="rId3"/>
    <p:sldId id="284" r:id="rId4"/>
    <p:sldId id="285" r:id="rId5"/>
    <p:sldId id="258" r:id="rId6"/>
    <p:sldId id="259" r:id="rId7"/>
    <p:sldId id="291" r:id="rId8"/>
    <p:sldId id="292" r:id="rId9"/>
    <p:sldId id="286" r:id="rId10"/>
    <p:sldId id="288" r:id="rId11"/>
    <p:sldId id="290" r:id="rId12"/>
    <p:sldId id="266" r:id="rId13"/>
    <p:sldId id="275" r:id="rId14"/>
    <p:sldId id="293" r:id="rId15"/>
    <p:sldId id="287" r:id="rId16"/>
    <p:sldId id="294" r:id="rId17"/>
  </p:sldIdLst>
  <p:sldSz cx="12192000" cy="6858000"/>
  <p:notesSz cx="6858000" cy="9144000"/>
  <p:embeddedFontLs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ExtraBold" panose="00000900000000000000" pitchFamily="2" charset="0"/>
      <p:bold r:id="rId23"/>
      <p:boldItalic r:id="rId24"/>
    </p:embeddedFont>
    <p:embeddedFont>
      <p:font typeface="Poppins Light" panose="000004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1E9163-E27E-4CCF-A130-4523B901B476}">
  <a:tblStyle styleId="{E61E9163-E27E-4CCF-A130-4523B901B4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2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eb2014fdb4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eb2014fdb4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204E6918-A1FA-4BDA-C57C-77727C5B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eb2014fdb4_1_48:notes">
            <a:extLst>
              <a:ext uri="{FF2B5EF4-FFF2-40B4-BE49-F238E27FC236}">
                <a16:creationId xmlns:a16="http://schemas.microsoft.com/office/drawing/2014/main" id="{F60FA8CB-F04F-4AE4-2FE4-C7C211774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eb2014fdb4_1_48:notes">
            <a:extLst>
              <a:ext uri="{FF2B5EF4-FFF2-40B4-BE49-F238E27FC236}">
                <a16:creationId xmlns:a16="http://schemas.microsoft.com/office/drawing/2014/main" id="{4EB998A3-5D35-F452-B0E3-D7F6074F3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80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>
          <a:extLst>
            <a:ext uri="{FF2B5EF4-FFF2-40B4-BE49-F238E27FC236}">
              <a16:creationId xmlns:a16="http://schemas.microsoft.com/office/drawing/2014/main" id="{1D449261-B1E5-907F-72B8-B43B2505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eb2014fdb4_1_48:notes">
            <a:extLst>
              <a:ext uri="{FF2B5EF4-FFF2-40B4-BE49-F238E27FC236}">
                <a16:creationId xmlns:a16="http://schemas.microsoft.com/office/drawing/2014/main" id="{DDF4B67B-09D1-2490-B9BA-31F9897026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eb2014fdb4_1_48:notes">
            <a:extLst>
              <a:ext uri="{FF2B5EF4-FFF2-40B4-BE49-F238E27FC236}">
                <a16:creationId xmlns:a16="http://schemas.microsoft.com/office/drawing/2014/main" id="{06369049-CCFE-20C0-FCD6-5C8698626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762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eb2014fdb4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eb2014fdb4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82A0C23C-A423-CA84-BD75-2E68C1DC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D0D84743-7BD8-2AD8-601C-37E5FC0C0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3F207B49-D08F-D98D-1316-AF7796990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3797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CB979C37-3A45-8D31-C8B4-F0C77B8C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FD203AE9-4BAA-BD44-CCCD-CD7AB1459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7C01C298-556B-3DFF-A101-EF3F32823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759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64150E1D-8377-E421-25D3-104470DE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1F9BD0C1-AD43-E43A-05C3-540A56C22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3BA1666F-E8C3-CD84-1146-0816D6469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058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D0A755AE-0AE7-7D74-F370-B1D387D9F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2EC37813-8899-9FD6-6FCF-011F8DD0A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C3E247AF-BC0D-9663-E474-A5E8A361E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62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118928D3-683F-F471-C56C-A22CB57A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7B541116-5BD3-6E80-7FEA-FE7453553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54609E3F-DEF8-724C-41C9-7085FD02C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346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eb205fd2b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eb205fd2b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b205fd2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b205fd2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DA735DD2-BF12-93B4-40C6-A3E890EB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CBF8F2A8-99AC-F1F8-DB82-D9CED13474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8588B175-9A3C-B120-9367-FA358C0DF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422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>
          <a:extLst>
            <a:ext uri="{FF2B5EF4-FFF2-40B4-BE49-F238E27FC236}">
              <a16:creationId xmlns:a16="http://schemas.microsoft.com/office/drawing/2014/main" id="{4C59990F-91E3-6C62-2EB7-00E86546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eb2014fdb4_1_44:notes">
            <a:extLst>
              <a:ext uri="{FF2B5EF4-FFF2-40B4-BE49-F238E27FC236}">
                <a16:creationId xmlns:a16="http://schemas.microsoft.com/office/drawing/2014/main" id="{86064A4F-FE9E-EECD-9A27-FDC955C37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eb2014fdb4_1_44:notes">
            <a:extLst>
              <a:ext uri="{FF2B5EF4-FFF2-40B4-BE49-F238E27FC236}">
                <a16:creationId xmlns:a16="http://schemas.microsoft.com/office/drawing/2014/main" id="{81C92D7E-E6A2-66C7-106E-4CCA1C243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23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9385913" y="516570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185118" y="1780818"/>
            <a:ext cx="2597891" cy="2597879"/>
            <a:chOff x="4616075" y="1332525"/>
            <a:chExt cx="1915566" cy="1881022"/>
          </a:xfrm>
        </p:grpSpPr>
        <p:sp>
          <p:nvSpPr>
            <p:cNvPr id="13" name="Google Shape;13;p2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" name="Google Shape;28;p2"/>
          <p:cNvGrpSpPr/>
          <p:nvPr/>
        </p:nvGrpSpPr>
        <p:grpSpPr>
          <a:xfrm>
            <a:off x="7971533" y="1305991"/>
            <a:ext cx="891613" cy="650098"/>
            <a:chOff x="4468725" y="937901"/>
            <a:chExt cx="656322" cy="478541"/>
          </a:xfrm>
        </p:grpSpPr>
        <p:sp>
          <p:nvSpPr>
            <p:cNvPr id="29" name="Google Shape;29;p2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10945151" y="3433043"/>
            <a:ext cx="712775" cy="873752"/>
            <a:chOff x="6197557" y="3002680"/>
            <a:chExt cx="524678" cy="643174"/>
          </a:xfrm>
        </p:grpSpPr>
        <p:sp>
          <p:nvSpPr>
            <p:cNvPr id="33" name="Google Shape;33;p2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"/>
          <p:cNvSpPr/>
          <p:nvPr/>
        </p:nvSpPr>
        <p:spPr>
          <a:xfrm>
            <a:off x="7221549" y="4687209"/>
            <a:ext cx="1991617" cy="1991628"/>
          </a:xfrm>
          <a:custGeom>
            <a:avLst/>
            <a:gdLst/>
            <a:ahLst/>
            <a:cxnLst/>
            <a:rect l="l" t="t" r="r" b="b"/>
            <a:pathLst>
              <a:path w="1467121" h="1467129" extrusionOk="0">
                <a:moveTo>
                  <a:pt x="0" y="733569"/>
                </a:moveTo>
                <a:cubicBezTo>
                  <a:pt x="0" y="328433"/>
                  <a:pt x="328432" y="0"/>
                  <a:pt x="733569" y="0"/>
                </a:cubicBezTo>
                <a:cubicBezTo>
                  <a:pt x="1138697" y="0"/>
                  <a:pt x="1467121" y="328433"/>
                  <a:pt x="1467121" y="733569"/>
                </a:cubicBezTo>
                <a:cubicBezTo>
                  <a:pt x="1467121" y="1138709"/>
                  <a:pt x="1138697" y="1467129"/>
                  <a:pt x="733569" y="1467129"/>
                </a:cubicBezTo>
                <a:cubicBezTo>
                  <a:pt x="328432" y="1467129"/>
                  <a:pt x="0" y="1138709"/>
                  <a:pt x="0" y="73356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97526" y="66025"/>
            <a:ext cx="1425230" cy="1425228"/>
          </a:xfrm>
          <a:custGeom>
            <a:avLst/>
            <a:gdLst/>
            <a:ahLst/>
            <a:cxnLst/>
            <a:rect l="l" t="t" r="r" b="b"/>
            <a:pathLst>
              <a:path w="1049893" h="1049892" extrusionOk="0">
                <a:moveTo>
                  <a:pt x="0" y="524944"/>
                </a:moveTo>
                <a:cubicBezTo>
                  <a:pt x="0" y="235026"/>
                  <a:pt x="235026" y="0"/>
                  <a:pt x="524945" y="0"/>
                </a:cubicBezTo>
                <a:cubicBezTo>
                  <a:pt x="814863" y="0"/>
                  <a:pt x="1049894" y="235026"/>
                  <a:pt x="1049894" y="524944"/>
                </a:cubicBezTo>
                <a:cubicBezTo>
                  <a:pt x="1049894" y="814867"/>
                  <a:pt x="814863" y="1049893"/>
                  <a:pt x="524945" y="1049893"/>
                </a:cubicBezTo>
                <a:cubicBezTo>
                  <a:pt x="235026" y="1049893"/>
                  <a:pt x="0" y="814867"/>
                  <a:pt x="0" y="52494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-879675" y="-949152"/>
            <a:ext cx="2905255" cy="2905253"/>
          </a:xfrm>
          <a:custGeom>
            <a:avLst/>
            <a:gdLst/>
            <a:ahLst/>
            <a:cxnLst/>
            <a:rect l="l" t="t" r="r" b="b"/>
            <a:pathLst>
              <a:path w="2192645" h="2192644" extrusionOk="0">
                <a:moveTo>
                  <a:pt x="0" y="1096323"/>
                </a:moveTo>
                <a:cubicBezTo>
                  <a:pt x="0" y="490841"/>
                  <a:pt x="490840" y="0"/>
                  <a:pt x="1096324" y="0"/>
                </a:cubicBezTo>
                <a:cubicBezTo>
                  <a:pt x="1701806" y="0"/>
                  <a:pt x="2192646" y="490841"/>
                  <a:pt x="2192646" y="1096323"/>
                </a:cubicBezTo>
                <a:cubicBezTo>
                  <a:pt x="2192646" y="1701805"/>
                  <a:pt x="1701806" y="2192645"/>
                  <a:pt x="1096324" y="2192645"/>
                </a:cubicBezTo>
                <a:cubicBezTo>
                  <a:pt x="490840" y="2192645"/>
                  <a:pt x="0" y="1701805"/>
                  <a:pt x="0" y="1096323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2"/>
          <p:cNvGrpSpPr/>
          <p:nvPr/>
        </p:nvGrpSpPr>
        <p:grpSpPr>
          <a:xfrm>
            <a:off x="8340475" y="2016975"/>
            <a:ext cx="2283267" cy="2289816"/>
            <a:chOff x="4593397" y="1441597"/>
            <a:chExt cx="1680726" cy="1685547"/>
          </a:xfrm>
        </p:grpSpPr>
        <p:sp>
          <p:nvSpPr>
            <p:cNvPr id="40" name="Google Shape;40;p2"/>
            <p:cNvSpPr/>
            <p:nvPr/>
          </p:nvSpPr>
          <p:spPr>
            <a:xfrm>
              <a:off x="4636901" y="1545112"/>
              <a:ext cx="1637222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593397" y="1441597"/>
              <a:ext cx="1442681" cy="1464465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7971521" y="4845101"/>
            <a:ext cx="1668612" cy="1391255"/>
            <a:chOff x="3790450" y="2922745"/>
            <a:chExt cx="1228275" cy="1024111"/>
          </a:xfrm>
        </p:grpSpPr>
        <p:sp>
          <p:nvSpPr>
            <p:cNvPr id="44" name="Google Shape;44;p2"/>
            <p:cNvSpPr/>
            <p:nvPr/>
          </p:nvSpPr>
          <p:spPr>
            <a:xfrm>
              <a:off x="3790450" y="2942602"/>
              <a:ext cx="1220561" cy="1004254"/>
            </a:xfrm>
            <a:custGeom>
              <a:avLst/>
              <a:gdLst/>
              <a:ahLst/>
              <a:cxnLst/>
              <a:rect l="l" t="t" r="r" b="b"/>
              <a:pathLst>
                <a:path w="1220561" h="1004254" extrusionOk="0">
                  <a:moveTo>
                    <a:pt x="207279" y="0"/>
                  </a:moveTo>
                  <a:lnTo>
                    <a:pt x="17224" y="276831"/>
                  </a:lnTo>
                  <a:lnTo>
                    <a:pt x="17600" y="277090"/>
                  </a:lnTo>
                  <a:cubicBezTo>
                    <a:pt x="14139" y="279899"/>
                    <a:pt x="10694" y="282725"/>
                    <a:pt x="8241" y="286328"/>
                  </a:cubicBezTo>
                  <a:cubicBezTo>
                    <a:pt x="-42239" y="360421"/>
                    <a:pt x="144416" y="575627"/>
                    <a:pt x="425186" y="766921"/>
                  </a:cubicBezTo>
                  <a:cubicBezTo>
                    <a:pt x="705963" y="958211"/>
                    <a:pt x="974597" y="1053168"/>
                    <a:pt x="1025077" y="979071"/>
                  </a:cubicBezTo>
                  <a:cubicBezTo>
                    <a:pt x="1025523" y="978432"/>
                    <a:pt x="1025603" y="977590"/>
                    <a:pt x="1026008" y="976934"/>
                  </a:cubicBezTo>
                  <a:lnTo>
                    <a:pt x="1027870" y="978221"/>
                  </a:lnTo>
                  <a:lnTo>
                    <a:pt x="1220561" y="700799"/>
                  </a:lnTo>
                  <a:lnTo>
                    <a:pt x="207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85489" y="2922745"/>
              <a:ext cx="1033236" cy="743083"/>
            </a:xfrm>
            <a:custGeom>
              <a:avLst/>
              <a:gdLst/>
              <a:ahLst/>
              <a:cxnLst/>
              <a:rect l="l" t="t" r="r" b="b"/>
              <a:pathLst>
                <a:path w="1033236" h="743083" extrusionOk="0">
                  <a:moveTo>
                    <a:pt x="8241" y="25176"/>
                  </a:moveTo>
                  <a:cubicBezTo>
                    <a:pt x="58721" y="-48921"/>
                    <a:pt x="327261" y="46085"/>
                    <a:pt x="608039" y="237379"/>
                  </a:cubicBezTo>
                  <a:cubicBezTo>
                    <a:pt x="888817" y="428669"/>
                    <a:pt x="1075476" y="643811"/>
                    <a:pt x="1024996" y="717908"/>
                  </a:cubicBezTo>
                  <a:cubicBezTo>
                    <a:pt x="974516" y="792005"/>
                    <a:pt x="706004" y="696995"/>
                    <a:pt x="425226" y="505705"/>
                  </a:cubicBezTo>
                  <a:cubicBezTo>
                    <a:pt x="144448" y="314411"/>
                    <a:pt x="-42243" y="99273"/>
                    <a:pt x="8241" y="251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272537" y="3126827"/>
              <a:ext cx="459128" cy="334918"/>
            </a:xfrm>
            <a:custGeom>
              <a:avLst/>
              <a:gdLst/>
              <a:ahLst/>
              <a:cxnLst/>
              <a:rect l="l" t="t" r="r" b="b"/>
              <a:pathLst>
                <a:path w="459128" h="334918" extrusionOk="0">
                  <a:moveTo>
                    <a:pt x="3699" y="10708"/>
                  </a:moveTo>
                  <a:cubicBezTo>
                    <a:pt x="26247" y="-21762"/>
                    <a:pt x="145626" y="22096"/>
                    <a:pt x="270389" y="108669"/>
                  </a:cubicBezTo>
                  <a:cubicBezTo>
                    <a:pt x="395112" y="195242"/>
                    <a:pt x="477977" y="291741"/>
                    <a:pt x="455429" y="324211"/>
                  </a:cubicBezTo>
                  <a:cubicBezTo>
                    <a:pt x="432922" y="356681"/>
                    <a:pt x="313543" y="312820"/>
                    <a:pt x="188779" y="226251"/>
                  </a:cubicBezTo>
                  <a:cubicBezTo>
                    <a:pt x="64016" y="139677"/>
                    <a:pt x="-18849" y="43174"/>
                    <a:pt x="3699" y="10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10268618" y="251265"/>
            <a:ext cx="1847185" cy="1054735"/>
            <a:chOff x="6220591" y="624724"/>
            <a:chExt cx="1359724" cy="776397"/>
          </a:xfrm>
        </p:grpSpPr>
        <p:sp>
          <p:nvSpPr>
            <p:cNvPr id="48" name="Google Shape;48;p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7407751" y="25475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1469" y="859395"/>
            <a:ext cx="417626" cy="417632"/>
          </a:xfrm>
          <a:custGeom>
            <a:avLst/>
            <a:gdLst/>
            <a:ahLst/>
            <a:cxnLst/>
            <a:rect l="l" t="t" r="r" b="b"/>
            <a:pathLst>
              <a:path w="264739" h="264743" extrusionOk="0">
                <a:moveTo>
                  <a:pt x="0" y="132163"/>
                </a:moveTo>
                <a:lnTo>
                  <a:pt x="132580" y="0"/>
                </a:lnTo>
                <a:lnTo>
                  <a:pt x="264739" y="132580"/>
                </a:lnTo>
                <a:lnTo>
                  <a:pt x="132163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90300" y="5603654"/>
            <a:ext cx="1138643" cy="1138662"/>
          </a:xfrm>
          <a:custGeom>
            <a:avLst/>
            <a:gdLst/>
            <a:ahLst/>
            <a:cxnLst/>
            <a:rect l="l" t="t" r="r" b="b"/>
            <a:pathLst>
              <a:path w="998810" h="998826" extrusionOk="0">
                <a:moveTo>
                  <a:pt x="0" y="498620"/>
                </a:moveTo>
                <a:lnTo>
                  <a:pt x="500190" y="0"/>
                </a:lnTo>
                <a:lnTo>
                  <a:pt x="998810" y="500194"/>
                </a:lnTo>
                <a:lnTo>
                  <a:pt x="498620" y="998826"/>
                </a:lnTo>
                <a:lnTo>
                  <a:pt x="0" y="498620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953410" y="3351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>
            <a:spLocks noGrp="1"/>
          </p:cNvSpPr>
          <p:nvPr>
            <p:ph type="ctrTitle"/>
          </p:nvPr>
        </p:nvSpPr>
        <p:spPr>
          <a:xfrm>
            <a:off x="912825" y="1753975"/>
            <a:ext cx="65040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010"/>
            </a:lvl1pPr>
            <a:lvl2pPr lvl="1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subTitle" idx="1"/>
          </p:nvPr>
        </p:nvSpPr>
        <p:spPr>
          <a:xfrm>
            <a:off x="912825" y="4540025"/>
            <a:ext cx="6504000" cy="56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 rot="3039638">
            <a:off x="10223506" y="5077234"/>
            <a:ext cx="1382219" cy="789242"/>
            <a:chOff x="6220591" y="624724"/>
            <a:chExt cx="1359724" cy="776397"/>
          </a:xfrm>
        </p:grpSpPr>
        <p:sp>
          <p:nvSpPr>
            <p:cNvPr id="58" name="Google Shape;58;p2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296601" y="6236355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 flipH="1">
            <a:off x="9698297" y="237744"/>
            <a:ext cx="2245810" cy="2245752"/>
            <a:chOff x="4616075" y="1332525"/>
            <a:chExt cx="1915566" cy="1881022"/>
          </a:xfrm>
        </p:grpSpPr>
        <p:sp>
          <p:nvSpPr>
            <p:cNvPr id="65" name="Google Shape;65;p3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3"/>
          <p:cNvSpPr/>
          <p:nvPr/>
        </p:nvSpPr>
        <p:spPr>
          <a:xfrm flipH="1">
            <a:off x="10905909" y="5310937"/>
            <a:ext cx="2072230" cy="207223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 flipH="1">
            <a:off x="10430470" y="-361799"/>
            <a:ext cx="1019976" cy="1019979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 flipH="1">
            <a:off x="-934826" y="2688137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 flipH="1">
            <a:off x="11173259" y="950815"/>
            <a:ext cx="770785" cy="561999"/>
            <a:chOff x="4468725" y="937901"/>
            <a:chExt cx="656322" cy="478541"/>
          </a:xfrm>
        </p:grpSpPr>
        <p:sp>
          <p:nvSpPr>
            <p:cNvPr id="83" name="Google Shape;83;p3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3"/>
          <p:cNvGrpSpPr/>
          <p:nvPr/>
        </p:nvGrpSpPr>
        <p:grpSpPr>
          <a:xfrm>
            <a:off x="105078" y="3699685"/>
            <a:ext cx="712775" cy="873752"/>
            <a:chOff x="6197557" y="3002680"/>
            <a:chExt cx="524678" cy="643174"/>
          </a:xfrm>
        </p:grpSpPr>
        <p:sp>
          <p:nvSpPr>
            <p:cNvPr id="87" name="Google Shape;87;p3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3"/>
          <p:cNvGrpSpPr/>
          <p:nvPr/>
        </p:nvGrpSpPr>
        <p:grpSpPr>
          <a:xfrm flipH="1">
            <a:off x="8759551" y="242069"/>
            <a:ext cx="1976801" cy="1979513"/>
            <a:chOff x="4593392" y="1441589"/>
            <a:chExt cx="1683243" cy="1685552"/>
          </a:xfrm>
        </p:grpSpPr>
        <p:sp>
          <p:nvSpPr>
            <p:cNvPr id="91" name="Google Shape;91;p3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flipH="1">
            <a:off x="152404" y="3069621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951335" y="5808861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1614900" y="2944525"/>
            <a:ext cx="8962200" cy="103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1614900" y="3977575"/>
            <a:ext cx="8962200" cy="193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8291816" y="1404964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1373700" y="1020577"/>
            <a:ext cx="9444600" cy="88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1373700" y="2192426"/>
            <a:ext cx="9444600" cy="3541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4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 flipH="1">
            <a:off x="365415" y="5863369"/>
            <a:ext cx="1730086" cy="1730091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 flipH="1">
            <a:off x="11521659" y="4785465"/>
            <a:ext cx="770785" cy="561999"/>
            <a:chOff x="4468725" y="937901"/>
            <a:chExt cx="656322" cy="478541"/>
          </a:xfrm>
        </p:grpSpPr>
        <p:sp>
          <p:nvSpPr>
            <p:cNvPr id="109" name="Google Shape;109;p4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4"/>
          <p:cNvGrpSpPr/>
          <p:nvPr/>
        </p:nvGrpSpPr>
        <p:grpSpPr>
          <a:xfrm flipH="1">
            <a:off x="10315651" y="5347469"/>
            <a:ext cx="1976801" cy="1979513"/>
            <a:chOff x="4593392" y="1441589"/>
            <a:chExt cx="1683243" cy="1685552"/>
          </a:xfrm>
        </p:grpSpPr>
        <p:sp>
          <p:nvSpPr>
            <p:cNvPr id="113" name="Google Shape;113;p4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4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CUSTOM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4677525" y="593375"/>
            <a:ext cx="68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1"/>
          </p:nvPr>
        </p:nvSpPr>
        <p:spPr>
          <a:xfrm>
            <a:off x="5487527" y="1719450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5487527" y="2030097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3"/>
          </p:nvPr>
        </p:nvSpPr>
        <p:spPr>
          <a:xfrm>
            <a:off x="5487527" y="247708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4"/>
          </p:nvPr>
        </p:nvSpPr>
        <p:spPr>
          <a:xfrm>
            <a:off x="5487527" y="2787733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subTitle" idx="5"/>
          </p:nvPr>
        </p:nvSpPr>
        <p:spPr>
          <a:xfrm>
            <a:off x="5487527" y="3234721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6"/>
          </p:nvPr>
        </p:nvSpPr>
        <p:spPr>
          <a:xfrm>
            <a:off x="5487527" y="3545368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subTitle" idx="7"/>
          </p:nvPr>
        </p:nvSpPr>
        <p:spPr>
          <a:xfrm>
            <a:off x="5487527" y="3992356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8"/>
          </p:nvPr>
        </p:nvSpPr>
        <p:spPr>
          <a:xfrm>
            <a:off x="5487527" y="4303004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ubTitle" idx="9"/>
          </p:nvPr>
        </p:nvSpPr>
        <p:spPr>
          <a:xfrm>
            <a:off x="5487527" y="4749992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3"/>
          </p:nvPr>
        </p:nvSpPr>
        <p:spPr>
          <a:xfrm>
            <a:off x="5487527" y="5060639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ubTitle" idx="14"/>
          </p:nvPr>
        </p:nvSpPr>
        <p:spPr>
          <a:xfrm>
            <a:off x="5487527" y="5507628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5"/>
          </p:nvPr>
        </p:nvSpPr>
        <p:spPr>
          <a:xfrm>
            <a:off x="5487527" y="5818275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31" name="Google Shape;131;p5"/>
          <p:cNvSpPr/>
          <p:nvPr/>
        </p:nvSpPr>
        <p:spPr>
          <a:xfrm flipH="1">
            <a:off x="2411300" y="5481692"/>
            <a:ext cx="1110354" cy="1110357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 flipH="1">
            <a:off x="1978611" y="692712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5"/>
          <p:cNvGrpSpPr/>
          <p:nvPr/>
        </p:nvGrpSpPr>
        <p:grpSpPr>
          <a:xfrm flipH="1">
            <a:off x="644395" y="2270085"/>
            <a:ext cx="2597891" cy="2597879"/>
            <a:chOff x="4616075" y="1332525"/>
            <a:chExt cx="1915566" cy="1881022"/>
          </a:xfrm>
        </p:grpSpPr>
        <p:sp>
          <p:nvSpPr>
            <p:cNvPr id="134" name="Google Shape;134;p5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5"/>
          <p:cNvGrpSpPr/>
          <p:nvPr/>
        </p:nvGrpSpPr>
        <p:grpSpPr>
          <a:xfrm flipH="1">
            <a:off x="2709708" y="2763895"/>
            <a:ext cx="891613" cy="650098"/>
            <a:chOff x="4468725" y="937901"/>
            <a:chExt cx="656322" cy="478541"/>
          </a:xfrm>
        </p:grpSpPr>
        <p:sp>
          <p:nvSpPr>
            <p:cNvPr id="149" name="Google Shape;149;p5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5"/>
          <p:cNvGrpSpPr/>
          <p:nvPr/>
        </p:nvGrpSpPr>
        <p:grpSpPr>
          <a:xfrm flipH="1">
            <a:off x="804128" y="5395135"/>
            <a:ext cx="712775" cy="873752"/>
            <a:chOff x="6197557" y="3002680"/>
            <a:chExt cx="524678" cy="643174"/>
          </a:xfrm>
        </p:grpSpPr>
        <p:sp>
          <p:nvSpPr>
            <p:cNvPr id="153" name="Google Shape;153;p5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 flipH="1">
            <a:off x="337275" y="2846868"/>
            <a:ext cx="2286686" cy="2289823"/>
            <a:chOff x="4593392" y="1441589"/>
            <a:chExt cx="1683243" cy="1685552"/>
          </a:xfrm>
        </p:grpSpPr>
        <p:sp>
          <p:nvSpPr>
            <p:cNvPr id="157" name="Google Shape;157;p5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 rot="2440826" flipH="1">
            <a:off x="557043" y="740550"/>
            <a:ext cx="1847135" cy="1054707"/>
            <a:chOff x="6220591" y="624724"/>
            <a:chExt cx="1359724" cy="776397"/>
          </a:xfrm>
        </p:grpSpPr>
        <p:sp>
          <p:nvSpPr>
            <p:cNvPr id="161" name="Google Shape;161;p5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5"/>
          <p:cNvSpPr/>
          <p:nvPr/>
        </p:nvSpPr>
        <p:spPr>
          <a:xfrm flipH="1">
            <a:off x="2053672" y="5733290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 flipH="1">
            <a:off x="2440904" y="572721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444675" y="577600"/>
            <a:ext cx="8221500" cy="95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ubTitle" idx="1"/>
          </p:nvPr>
        </p:nvSpPr>
        <p:spPr>
          <a:xfrm>
            <a:off x="1063797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7"/>
          <p:cNvSpPr txBox="1">
            <a:spLocks noGrp="1"/>
          </p:cNvSpPr>
          <p:nvPr>
            <p:ph type="body" idx="2"/>
          </p:nvPr>
        </p:nvSpPr>
        <p:spPr>
          <a:xfrm>
            <a:off x="1063829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subTitle" idx="3"/>
          </p:nvPr>
        </p:nvSpPr>
        <p:spPr>
          <a:xfrm>
            <a:off x="5168585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body" idx="4"/>
          </p:nvPr>
        </p:nvSpPr>
        <p:spPr>
          <a:xfrm>
            <a:off x="5168623" y="2517456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subTitle" idx="5"/>
          </p:nvPr>
        </p:nvSpPr>
        <p:spPr>
          <a:xfrm>
            <a:off x="1063724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7"/>
          <p:cNvSpPr txBox="1">
            <a:spLocks noGrp="1"/>
          </p:cNvSpPr>
          <p:nvPr>
            <p:ph type="body" idx="6"/>
          </p:nvPr>
        </p:nvSpPr>
        <p:spPr>
          <a:xfrm>
            <a:off x="1063768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3" name="Google Shape;223;p7"/>
          <p:cNvSpPr txBox="1">
            <a:spLocks noGrp="1"/>
          </p:cNvSpPr>
          <p:nvPr>
            <p:ph type="body" idx="7"/>
          </p:nvPr>
        </p:nvSpPr>
        <p:spPr>
          <a:xfrm>
            <a:off x="5168563" y="4982602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556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8"/>
          </p:nvPr>
        </p:nvSpPr>
        <p:spPr>
          <a:xfrm>
            <a:off x="5168525" y="4418146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8757462" y="5481679"/>
            <a:ext cx="1110354" cy="1110357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547825" y="692699"/>
            <a:ext cx="1752680" cy="1752686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9036830" y="2270073"/>
            <a:ext cx="2597891" cy="2597879"/>
            <a:chOff x="4616075" y="1332525"/>
            <a:chExt cx="1915566" cy="1881022"/>
          </a:xfrm>
        </p:grpSpPr>
        <p:sp>
          <p:nvSpPr>
            <p:cNvPr id="228" name="Google Shape;228;p7"/>
            <p:cNvSpPr/>
            <p:nvPr/>
          </p:nvSpPr>
          <p:spPr>
            <a:xfrm>
              <a:off x="4616077" y="1332525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4616077" y="1645356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616077" y="1958183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616077" y="2271014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616077" y="2583841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616077" y="2896672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4616077" y="3209499"/>
              <a:ext cx="1912253" cy="4048"/>
            </a:xfrm>
            <a:custGeom>
              <a:avLst/>
              <a:gdLst/>
              <a:ahLst/>
              <a:cxnLst/>
              <a:rect l="l" t="t" r="r" b="b"/>
              <a:pathLst>
                <a:path w="1912253" h="4048" extrusionOk="0">
                  <a:moveTo>
                    <a:pt x="0" y="0"/>
                  </a:moveTo>
                  <a:lnTo>
                    <a:pt x="1912253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461607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941627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5256733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5571839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886945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202051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527594" y="1332525"/>
              <a:ext cx="4048" cy="1876973"/>
            </a:xfrm>
            <a:custGeom>
              <a:avLst/>
              <a:gdLst/>
              <a:ahLst/>
              <a:cxnLst/>
              <a:rect l="l" t="t" r="r" b="b"/>
              <a:pathLst>
                <a:path w="4048" h="1876973" extrusionOk="0">
                  <a:moveTo>
                    <a:pt x="0" y="187697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8677795" y="2763882"/>
            <a:ext cx="891613" cy="650098"/>
            <a:chOff x="4468725" y="937901"/>
            <a:chExt cx="656322" cy="478541"/>
          </a:xfrm>
        </p:grpSpPr>
        <p:sp>
          <p:nvSpPr>
            <p:cNvPr id="243" name="Google Shape;243;p7"/>
            <p:cNvSpPr/>
            <p:nvPr/>
          </p:nvSpPr>
          <p:spPr>
            <a:xfrm>
              <a:off x="4469534" y="937901"/>
              <a:ext cx="655513" cy="397461"/>
            </a:xfrm>
            <a:custGeom>
              <a:avLst/>
              <a:gdLst/>
              <a:ahLst/>
              <a:cxnLst/>
              <a:rect l="l" t="t" r="r" b="b"/>
              <a:pathLst>
                <a:path w="655513" h="397461" extrusionOk="0">
                  <a:moveTo>
                    <a:pt x="446589" y="397461"/>
                  </a:moveTo>
                  <a:lnTo>
                    <a:pt x="59831" y="253036"/>
                  </a:lnTo>
                  <a:lnTo>
                    <a:pt x="0" y="152311"/>
                  </a:lnTo>
                  <a:lnTo>
                    <a:pt x="261347" y="0"/>
                  </a:lnTo>
                  <a:lnTo>
                    <a:pt x="655513" y="159184"/>
                  </a:lnTo>
                  <a:lnTo>
                    <a:pt x="446589" y="39746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4468725" y="1087913"/>
              <a:ext cx="468570" cy="328529"/>
            </a:xfrm>
            <a:custGeom>
              <a:avLst/>
              <a:gdLst/>
              <a:ahLst/>
              <a:cxnLst/>
              <a:rect l="l" t="t" r="r" b="b"/>
              <a:pathLst>
                <a:path w="468570" h="328529" extrusionOk="0">
                  <a:moveTo>
                    <a:pt x="69587" y="164066"/>
                  </a:moveTo>
                  <a:lnTo>
                    <a:pt x="0" y="0"/>
                  </a:lnTo>
                  <a:lnTo>
                    <a:pt x="468570" y="201929"/>
                  </a:lnTo>
                  <a:lnTo>
                    <a:pt x="427927" y="328530"/>
                  </a:lnTo>
                  <a:lnTo>
                    <a:pt x="69587" y="1640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4859530" y="1097086"/>
              <a:ext cx="265516" cy="319356"/>
            </a:xfrm>
            <a:custGeom>
              <a:avLst/>
              <a:gdLst/>
              <a:ahLst/>
              <a:cxnLst/>
              <a:rect l="l" t="t" r="r" b="b"/>
              <a:pathLst>
                <a:path w="265516" h="319356" extrusionOk="0">
                  <a:moveTo>
                    <a:pt x="0" y="158537"/>
                  </a:moveTo>
                  <a:lnTo>
                    <a:pt x="265517" y="0"/>
                  </a:lnTo>
                  <a:lnTo>
                    <a:pt x="253777" y="267958"/>
                  </a:lnTo>
                  <a:lnTo>
                    <a:pt x="37121" y="319357"/>
                  </a:lnTo>
                  <a:lnTo>
                    <a:pt x="0" y="1585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7"/>
          <p:cNvGrpSpPr/>
          <p:nvPr/>
        </p:nvGrpSpPr>
        <p:grpSpPr>
          <a:xfrm>
            <a:off x="10762214" y="5395122"/>
            <a:ext cx="712775" cy="873752"/>
            <a:chOff x="6197557" y="3002680"/>
            <a:chExt cx="524678" cy="643174"/>
          </a:xfrm>
        </p:grpSpPr>
        <p:sp>
          <p:nvSpPr>
            <p:cNvPr id="247" name="Google Shape;247;p7"/>
            <p:cNvSpPr/>
            <p:nvPr/>
          </p:nvSpPr>
          <p:spPr>
            <a:xfrm>
              <a:off x="6248807" y="3002680"/>
              <a:ext cx="473428" cy="502222"/>
            </a:xfrm>
            <a:custGeom>
              <a:avLst/>
              <a:gdLst/>
              <a:ahLst/>
              <a:cxnLst/>
              <a:rect l="l" t="t" r="r" b="b"/>
              <a:pathLst>
                <a:path w="473428" h="502222" extrusionOk="0">
                  <a:moveTo>
                    <a:pt x="0" y="0"/>
                  </a:moveTo>
                  <a:lnTo>
                    <a:pt x="105089" y="324348"/>
                  </a:lnTo>
                  <a:lnTo>
                    <a:pt x="335549" y="502223"/>
                  </a:lnTo>
                  <a:lnTo>
                    <a:pt x="473428" y="454204"/>
                  </a:lnTo>
                  <a:lnTo>
                    <a:pt x="253696" y="119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6197557" y="3002680"/>
              <a:ext cx="156338" cy="531243"/>
            </a:xfrm>
            <a:custGeom>
              <a:avLst/>
              <a:gdLst/>
              <a:ahLst/>
              <a:cxnLst/>
              <a:rect l="l" t="t" r="r" b="b"/>
              <a:pathLst>
                <a:path w="156338" h="531243" extrusionOk="0">
                  <a:moveTo>
                    <a:pt x="0" y="230658"/>
                  </a:moveTo>
                  <a:lnTo>
                    <a:pt x="51249" y="0"/>
                  </a:lnTo>
                  <a:lnTo>
                    <a:pt x="156339" y="324348"/>
                  </a:lnTo>
                  <a:lnTo>
                    <a:pt x="133467" y="531244"/>
                  </a:lnTo>
                  <a:lnTo>
                    <a:pt x="0" y="2306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6312322" y="3195379"/>
              <a:ext cx="409913" cy="450475"/>
            </a:xfrm>
            <a:custGeom>
              <a:avLst/>
              <a:gdLst/>
              <a:ahLst/>
              <a:cxnLst/>
              <a:rect l="l" t="t" r="r" b="b"/>
              <a:pathLst>
                <a:path w="409913" h="450475" extrusionOk="0">
                  <a:moveTo>
                    <a:pt x="18702" y="338545"/>
                  </a:moveTo>
                  <a:lnTo>
                    <a:pt x="0" y="0"/>
                  </a:lnTo>
                  <a:lnTo>
                    <a:pt x="409913" y="261505"/>
                  </a:lnTo>
                  <a:lnTo>
                    <a:pt x="215968" y="450475"/>
                  </a:lnTo>
                  <a:lnTo>
                    <a:pt x="18702" y="3385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9655155" y="2846855"/>
            <a:ext cx="2286686" cy="2289823"/>
            <a:chOff x="4593392" y="1441589"/>
            <a:chExt cx="1683243" cy="1685552"/>
          </a:xfrm>
        </p:grpSpPr>
        <p:sp>
          <p:nvSpPr>
            <p:cNvPr id="251" name="Google Shape;251;p7"/>
            <p:cNvSpPr/>
            <p:nvPr/>
          </p:nvSpPr>
          <p:spPr>
            <a:xfrm>
              <a:off x="4643547" y="1545109"/>
              <a:ext cx="1633088" cy="1582032"/>
            </a:xfrm>
            <a:custGeom>
              <a:avLst/>
              <a:gdLst/>
              <a:ahLst/>
              <a:cxnLst/>
              <a:rect l="l" t="t" r="r" b="b"/>
              <a:pathLst>
                <a:path w="1653760" h="1582032" extrusionOk="0">
                  <a:moveTo>
                    <a:pt x="1278115" y="0"/>
                  </a:moveTo>
                  <a:cubicBezTo>
                    <a:pt x="1278115" y="0"/>
                    <a:pt x="1326166" y="722772"/>
                    <a:pt x="1062795" y="991155"/>
                  </a:cubicBezTo>
                  <a:cubicBezTo>
                    <a:pt x="803634" y="1255283"/>
                    <a:pt x="237544" y="1176365"/>
                    <a:pt x="0" y="1110874"/>
                  </a:cubicBezTo>
                  <a:cubicBezTo>
                    <a:pt x="19836" y="1171940"/>
                    <a:pt x="287417" y="1421932"/>
                    <a:pt x="332756" y="1466433"/>
                  </a:cubicBezTo>
                  <a:cubicBezTo>
                    <a:pt x="554027" y="1683550"/>
                    <a:pt x="1001911" y="1585906"/>
                    <a:pt x="1333169" y="1248341"/>
                  </a:cubicBezTo>
                  <a:cubicBezTo>
                    <a:pt x="1664387" y="910771"/>
                    <a:pt x="1753405" y="461017"/>
                    <a:pt x="1532135" y="243900"/>
                  </a:cubicBezTo>
                  <a:cubicBezTo>
                    <a:pt x="1522176" y="234103"/>
                    <a:pt x="1278115" y="0"/>
                    <a:pt x="1278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4593392" y="1441589"/>
              <a:ext cx="1442681" cy="1453563"/>
            </a:xfrm>
            <a:custGeom>
              <a:avLst/>
              <a:gdLst/>
              <a:ahLst/>
              <a:cxnLst/>
              <a:rect l="l" t="t" r="r" b="b"/>
              <a:pathLst>
                <a:path w="1442681" h="1453563" extrusionOk="0">
                  <a:moveTo>
                    <a:pt x="994706" y="186"/>
                  </a:moveTo>
                  <a:cubicBezTo>
                    <a:pt x="780358" y="5452"/>
                    <a:pt x="527714" y="122670"/>
                    <a:pt x="320693" y="333650"/>
                  </a:cubicBezTo>
                  <a:cubicBezTo>
                    <a:pt x="-10525" y="671215"/>
                    <a:pt x="-99705" y="1120845"/>
                    <a:pt x="121606" y="1337962"/>
                  </a:cubicBezTo>
                  <a:cubicBezTo>
                    <a:pt x="342877" y="1555083"/>
                    <a:pt x="790761" y="1457438"/>
                    <a:pt x="1121979" y="1119869"/>
                  </a:cubicBezTo>
                  <a:cubicBezTo>
                    <a:pt x="1453196" y="782304"/>
                    <a:pt x="1542377" y="332675"/>
                    <a:pt x="1321106" y="115557"/>
                  </a:cubicBezTo>
                  <a:cubicBezTo>
                    <a:pt x="1238119" y="34137"/>
                    <a:pt x="1123315" y="-2976"/>
                    <a:pt x="994706" y="186"/>
                  </a:cubicBezTo>
                  <a:close/>
                  <a:moveTo>
                    <a:pt x="845573" y="399938"/>
                  </a:moveTo>
                  <a:cubicBezTo>
                    <a:pt x="903704" y="398509"/>
                    <a:pt x="955560" y="415256"/>
                    <a:pt x="993087" y="452058"/>
                  </a:cubicBezTo>
                  <a:cubicBezTo>
                    <a:pt x="1093075" y="550192"/>
                    <a:pt x="1052837" y="753501"/>
                    <a:pt x="903137" y="906079"/>
                  </a:cubicBezTo>
                  <a:cubicBezTo>
                    <a:pt x="753437" y="1058653"/>
                    <a:pt x="551031" y="1102762"/>
                    <a:pt x="451002" y="1004627"/>
                  </a:cubicBezTo>
                  <a:cubicBezTo>
                    <a:pt x="350973" y="906492"/>
                    <a:pt x="391252" y="703305"/>
                    <a:pt x="540951" y="550731"/>
                  </a:cubicBezTo>
                  <a:cubicBezTo>
                    <a:pt x="634503" y="455369"/>
                    <a:pt x="748701" y="402318"/>
                    <a:pt x="845573" y="399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986203" y="1827976"/>
              <a:ext cx="656440" cy="678044"/>
            </a:xfrm>
            <a:custGeom>
              <a:avLst/>
              <a:gdLst/>
              <a:ahLst/>
              <a:cxnLst/>
              <a:rect l="l" t="t" r="r" b="b"/>
              <a:pathLst>
                <a:path w="651553" h="656701" extrusionOk="0">
                  <a:moveTo>
                    <a:pt x="449336" y="84"/>
                  </a:moveTo>
                  <a:cubicBezTo>
                    <a:pt x="352424" y="2464"/>
                    <a:pt x="238267" y="55390"/>
                    <a:pt x="144714" y="150751"/>
                  </a:cubicBezTo>
                  <a:cubicBezTo>
                    <a:pt x="91400" y="205065"/>
                    <a:pt x="52336" y="265827"/>
                    <a:pt x="28169" y="325958"/>
                  </a:cubicBezTo>
                  <a:cubicBezTo>
                    <a:pt x="-15551" y="434735"/>
                    <a:pt x="-9641" y="541574"/>
                    <a:pt x="54765" y="604773"/>
                  </a:cubicBezTo>
                  <a:cubicBezTo>
                    <a:pt x="106662" y="655723"/>
                    <a:pt x="186289" y="667907"/>
                    <a:pt x="271704" y="646898"/>
                  </a:cubicBezTo>
                  <a:cubicBezTo>
                    <a:pt x="289759" y="567587"/>
                    <a:pt x="336150" y="482770"/>
                    <a:pt x="407964" y="409576"/>
                  </a:cubicBezTo>
                  <a:cubicBezTo>
                    <a:pt x="479899" y="336249"/>
                    <a:pt x="564019" y="288383"/>
                    <a:pt x="643120" y="268904"/>
                  </a:cubicBezTo>
                  <a:cubicBezTo>
                    <a:pt x="654819" y="217493"/>
                    <a:pt x="654495" y="168539"/>
                    <a:pt x="641217" y="126463"/>
                  </a:cubicBezTo>
                  <a:cubicBezTo>
                    <a:pt x="632311" y="98134"/>
                    <a:pt x="617900" y="72748"/>
                    <a:pt x="596930" y="52204"/>
                  </a:cubicBezTo>
                  <a:cubicBezTo>
                    <a:pt x="559445" y="15402"/>
                    <a:pt x="507467" y="-1345"/>
                    <a:pt x="449336" y="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7"/>
          <p:cNvGrpSpPr/>
          <p:nvPr/>
        </p:nvGrpSpPr>
        <p:grpSpPr>
          <a:xfrm rot="-2440826">
            <a:off x="9874938" y="740537"/>
            <a:ext cx="1847135" cy="1054707"/>
            <a:chOff x="6220591" y="624724"/>
            <a:chExt cx="1359724" cy="776397"/>
          </a:xfrm>
        </p:grpSpPr>
        <p:sp>
          <p:nvSpPr>
            <p:cNvPr id="255" name="Google Shape;255;p7"/>
            <p:cNvSpPr/>
            <p:nvPr/>
          </p:nvSpPr>
          <p:spPr>
            <a:xfrm>
              <a:off x="6220591" y="624724"/>
              <a:ext cx="1359724" cy="686349"/>
            </a:xfrm>
            <a:custGeom>
              <a:avLst/>
              <a:gdLst/>
              <a:ahLst/>
              <a:cxnLst/>
              <a:rect l="l" t="t" r="r" b="b"/>
              <a:pathLst>
                <a:path w="1359724" h="686349" extrusionOk="0">
                  <a:moveTo>
                    <a:pt x="1359725" y="454951"/>
                  </a:moveTo>
                  <a:lnTo>
                    <a:pt x="1295562" y="102363"/>
                  </a:lnTo>
                  <a:lnTo>
                    <a:pt x="1295076" y="102448"/>
                  </a:lnTo>
                  <a:cubicBezTo>
                    <a:pt x="1295602" y="97716"/>
                    <a:pt x="1296088" y="92988"/>
                    <a:pt x="1295238" y="88413"/>
                  </a:cubicBezTo>
                  <a:cubicBezTo>
                    <a:pt x="1277750" y="-5669"/>
                    <a:pt x="973979" y="-28258"/>
                    <a:pt x="616732" y="38051"/>
                  </a:cubicBezTo>
                  <a:cubicBezTo>
                    <a:pt x="259485" y="104355"/>
                    <a:pt x="-15990" y="234502"/>
                    <a:pt x="1457" y="328585"/>
                  </a:cubicBezTo>
                  <a:cubicBezTo>
                    <a:pt x="1619" y="329398"/>
                    <a:pt x="2186" y="330091"/>
                    <a:pt x="2388" y="330892"/>
                  </a:cubicBezTo>
                  <a:lnTo>
                    <a:pt x="0" y="331329"/>
                  </a:lnTo>
                  <a:lnTo>
                    <a:pt x="62584" y="686350"/>
                  </a:lnTo>
                  <a:lnTo>
                    <a:pt x="1359725" y="45495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6284859" y="984273"/>
              <a:ext cx="1295270" cy="416848"/>
            </a:xfrm>
            <a:custGeom>
              <a:avLst/>
              <a:gdLst/>
              <a:ahLst/>
              <a:cxnLst/>
              <a:rect l="l" t="t" r="r" b="b"/>
              <a:pathLst>
                <a:path w="1295270" h="416848" extrusionOk="0">
                  <a:moveTo>
                    <a:pt x="1294485" y="88366"/>
                  </a:moveTo>
                  <a:cubicBezTo>
                    <a:pt x="1311933" y="182448"/>
                    <a:pt x="1036498" y="312470"/>
                    <a:pt x="679251" y="378774"/>
                  </a:cubicBezTo>
                  <a:cubicBezTo>
                    <a:pt x="322004" y="445083"/>
                    <a:pt x="18273" y="422563"/>
                    <a:pt x="785" y="328480"/>
                  </a:cubicBezTo>
                  <a:cubicBezTo>
                    <a:pt x="-16662" y="234398"/>
                    <a:pt x="258772" y="104380"/>
                    <a:pt x="616019" y="38072"/>
                  </a:cubicBezTo>
                  <a:cubicBezTo>
                    <a:pt x="973266" y="-28232"/>
                    <a:pt x="1276997" y="-5717"/>
                    <a:pt x="1294485" y="883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6642623" y="1101719"/>
              <a:ext cx="579706" cy="181954"/>
            </a:xfrm>
            <a:custGeom>
              <a:avLst/>
              <a:gdLst/>
              <a:ahLst/>
              <a:cxnLst/>
              <a:rect l="l" t="t" r="r" b="b"/>
              <a:pathLst>
                <a:path w="579706" h="181954" extrusionOk="0">
                  <a:moveTo>
                    <a:pt x="579394" y="39803"/>
                  </a:moveTo>
                  <a:cubicBezTo>
                    <a:pt x="586761" y="81341"/>
                    <a:pt x="463051" y="137921"/>
                    <a:pt x="303150" y="166185"/>
                  </a:cubicBezTo>
                  <a:cubicBezTo>
                    <a:pt x="143249" y="194449"/>
                    <a:pt x="7677" y="183689"/>
                    <a:pt x="309" y="142152"/>
                  </a:cubicBezTo>
                  <a:cubicBezTo>
                    <a:pt x="-7017" y="100618"/>
                    <a:pt x="116653" y="44033"/>
                    <a:pt x="276594" y="15769"/>
                  </a:cubicBezTo>
                  <a:cubicBezTo>
                    <a:pt x="436495" y="-12495"/>
                    <a:pt x="572067" y="-1735"/>
                    <a:pt x="579394" y="39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7"/>
          <p:cNvSpPr/>
          <p:nvPr/>
        </p:nvSpPr>
        <p:spPr>
          <a:xfrm>
            <a:off x="9618322" y="5733278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478813" y="572709"/>
            <a:ext cx="359399" cy="359389"/>
          </a:xfrm>
          <a:custGeom>
            <a:avLst/>
            <a:gdLst/>
            <a:ahLst/>
            <a:cxnLst/>
            <a:rect l="l" t="t" r="r" b="b"/>
            <a:pathLst>
              <a:path w="264751" h="264743" extrusionOk="0">
                <a:moveTo>
                  <a:pt x="0" y="132163"/>
                </a:moveTo>
                <a:lnTo>
                  <a:pt x="132580" y="0"/>
                </a:lnTo>
                <a:lnTo>
                  <a:pt x="264752" y="132580"/>
                </a:lnTo>
                <a:lnTo>
                  <a:pt x="132176" y="264743"/>
                </a:lnTo>
                <a:lnTo>
                  <a:pt x="0" y="132163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659700" y="603600"/>
            <a:ext cx="108726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body" idx="1"/>
          </p:nvPr>
        </p:nvSpPr>
        <p:spPr>
          <a:xfrm>
            <a:off x="659650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9"/>
          <p:cNvSpPr txBox="1">
            <a:spLocks noGrp="1"/>
          </p:cNvSpPr>
          <p:nvPr>
            <p:ph type="subTitle" idx="2"/>
          </p:nvPr>
        </p:nvSpPr>
        <p:spPr>
          <a:xfrm>
            <a:off x="659663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3" name="Google Shape;283;p9"/>
          <p:cNvSpPr txBox="1">
            <a:spLocks noGrp="1"/>
          </p:cNvSpPr>
          <p:nvPr>
            <p:ph type="body" idx="3"/>
          </p:nvPr>
        </p:nvSpPr>
        <p:spPr>
          <a:xfrm>
            <a:off x="4438488" y="3826975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4" name="Google Shape;284;p9"/>
          <p:cNvSpPr txBox="1">
            <a:spLocks noGrp="1"/>
          </p:cNvSpPr>
          <p:nvPr>
            <p:ph type="subTitle" idx="4"/>
          </p:nvPr>
        </p:nvSpPr>
        <p:spPr>
          <a:xfrm>
            <a:off x="4438500" y="3193605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5" name="Google Shape;285;p9"/>
          <p:cNvSpPr txBox="1">
            <a:spLocks noGrp="1"/>
          </p:cNvSpPr>
          <p:nvPr>
            <p:ph type="body" idx="5"/>
          </p:nvPr>
        </p:nvSpPr>
        <p:spPr>
          <a:xfrm>
            <a:off x="8217327" y="3826963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6" name="Google Shape;286;p9"/>
          <p:cNvSpPr txBox="1">
            <a:spLocks noGrp="1"/>
          </p:cNvSpPr>
          <p:nvPr>
            <p:ph type="subTitle" idx="6"/>
          </p:nvPr>
        </p:nvSpPr>
        <p:spPr>
          <a:xfrm>
            <a:off x="8217338" y="3193600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7" name="Google Shape;287;p9"/>
          <p:cNvSpPr/>
          <p:nvPr/>
        </p:nvSpPr>
        <p:spPr>
          <a:xfrm flipH="1">
            <a:off x="11270114" y="232339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 flipH="1">
            <a:off x="9890848" y="-461213"/>
            <a:ext cx="1181365" cy="1181368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323750" y="241352"/>
            <a:ext cx="607123" cy="607123"/>
          </a:xfrm>
          <a:custGeom>
            <a:avLst/>
            <a:gdLst/>
            <a:ahLst/>
            <a:cxnLst/>
            <a:rect l="l" t="t" r="r" b="b"/>
            <a:pathLst>
              <a:path w="447236" h="447236" extrusionOk="0">
                <a:moveTo>
                  <a:pt x="0" y="223266"/>
                </a:moveTo>
                <a:lnTo>
                  <a:pt x="223983" y="0"/>
                </a:lnTo>
                <a:lnTo>
                  <a:pt x="447237" y="223971"/>
                </a:lnTo>
                <a:lnTo>
                  <a:pt x="223254" y="447237"/>
                </a:lnTo>
                <a:lnTo>
                  <a:pt x="0" y="223266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 flipH="1">
            <a:off x="159222" y="6172023"/>
            <a:ext cx="1090987" cy="1090990"/>
          </a:xfrm>
          <a:custGeom>
            <a:avLst/>
            <a:gdLst/>
            <a:ahLst/>
            <a:cxnLst/>
            <a:rect l="l" t="t" r="r" b="b"/>
            <a:pathLst>
              <a:path w="1291109" h="1291113" extrusionOk="0">
                <a:moveTo>
                  <a:pt x="0" y="645559"/>
                </a:moveTo>
                <a:cubicBezTo>
                  <a:pt x="0" y="289024"/>
                  <a:pt x="288996" y="0"/>
                  <a:pt x="645554" y="0"/>
                </a:cubicBezTo>
                <a:cubicBezTo>
                  <a:pt x="1002073" y="0"/>
                  <a:pt x="1291109" y="289024"/>
                  <a:pt x="1291109" y="645559"/>
                </a:cubicBezTo>
                <a:cubicBezTo>
                  <a:pt x="1291109" y="1002089"/>
                  <a:pt x="1002073" y="1291113"/>
                  <a:pt x="645554" y="1291113"/>
                </a:cubicBezTo>
                <a:cubicBezTo>
                  <a:pt x="288996" y="1291113"/>
                  <a:pt x="0" y="1002089"/>
                  <a:pt x="0" y="645559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6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elguesser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"/>
          <p:cNvSpPr txBox="1">
            <a:spLocks noGrp="1"/>
          </p:cNvSpPr>
          <p:nvPr>
            <p:ph type="ctrTitle"/>
          </p:nvPr>
        </p:nvSpPr>
        <p:spPr>
          <a:xfrm>
            <a:off x="912825" y="2375451"/>
            <a:ext cx="6829758" cy="211542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sz="7400" b="1" dirty="0"/>
              <a:t>Лучшее</a:t>
            </a:r>
            <a:r>
              <a:rPr lang="ru-RU" sz="7400" dirty="0"/>
              <a:t> – </a:t>
            </a:r>
            <a:br>
              <a:rPr lang="ru-RU" sz="7400" dirty="0"/>
            </a:br>
            <a:r>
              <a:rPr lang="ru-RU" sz="7400" dirty="0"/>
              <a:t>враг </a:t>
            </a:r>
            <a:r>
              <a:rPr lang="ru-RU" sz="7400" b="1" dirty="0"/>
              <a:t>хорошего</a:t>
            </a:r>
            <a:endParaRPr lang="en-US" sz="7400" b="1" dirty="0"/>
          </a:p>
        </p:txBody>
      </p:sp>
      <p:sp>
        <p:nvSpPr>
          <p:cNvPr id="514" name="Google Shape;514;p21"/>
          <p:cNvSpPr txBox="1">
            <a:spLocks noGrp="1"/>
          </p:cNvSpPr>
          <p:nvPr>
            <p:ph type="subTitle" idx="1"/>
          </p:nvPr>
        </p:nvSpPr>
        <p:spPr>
          <a:xfrm>
            <a:off x="912825" y="4410925"/>
            <a:ext cx="6504000" cy="111479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ru-RU" sz="1800" dirty="0"/>
              <a:t>или исследование способов размещения сферических панорам в сети Интернет и взаимодействие с ними на примере создания игры </a:t>
            </a:r>
            <a:r>
              <a:rPr lang="en-US" sz="1800" dirty="0" err="1"/>
              <a:t>BelGuessr</a:t>
            </a: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5F582D-09ED-DEB0-1ED9-3FDDF1C97D85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Google Shape;514;p21">
            <a:extLst>
              <a:ext uri="{FF2B5EF4-FFF2-40B4-BE49-F238E27FC236}">
                <a16:creationId xmlns:a16="http://schemas.microsoft.com/office/drawing/2014/main" id="{D8D8D417-E05D-EDD3-4942-6FC9DC1A2288}"/>
              </a:ext>
            </a:extLst>
          </p:cNvPr>
          <p:cNvSpPr txBox="1">
            <a:spLocks/>
          </p:cNvSpPr>
          <p:nvPr/>
        </p:nvSpPr>
        <p:spPr>
          <a:xfrm>
            <a:off x="912825" y="6367511"/>
            <a:ext cx="3486898" cy="47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Poppins Light"/>
              <a:buNone/>
              <a:defRPr sz="37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/>
            <a:r>
              <a:rPr lang="ru-RU" sz="1800" dirty="0" err="1"/>
              <a:t>Бовкунович</a:t>
            </a:r>
            <a:r>
              <a:rPr lang="ru-RU" sz="1800" dirty="0"/>
              <a:t> Илья, </a:t>
            </a:r>
            <a:r>
              <a:rPr lang="en-US" sz="1800" dirty="0"/>
              <a:t>XI </a:t>
            </a:r>
            <a:r>
              <a:rPr lang="ru-RU" sz="1800" dirty="0"/>
              <a:t>класс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>
            <a:spLocks noGrp="1"/>
          </p:cNvSpPr>
          <p:nvPr>
            <p:ph type="title"/>
          </p:nvPr>
        </p:nvSpPr>
        <p:spPr>
          <a:xfrm>
            <a:off x="1876350" y="1142999"/>
            <a:ext cx="8439300" cy="8167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Цель работы:</a:t>
            </a:r>
            <a:endParaRPr b="1" dirty="0"/>
          </a:p>
        </p:txBody>
      </p:sp>
      <p:sp>
        <p:nvSpPr>
          <p:cNvPr id="561" name="Google Shape;561;p25"/>
          <p:cNvSpPr txBox="1">
            <a:spLocks noGrp="1"/>
          </p:cNvSpPr>
          <p:nvPr>
            <p:ph type="body" idx="1"/>
          </p:nvPr>
        </p:nvSpPr>
        <p:spPr>
          <a:xfrm>
            <a:off x="1876350" y="2751069"/>
            <a:ext cx="8439300" cy="22582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изучение способов размещения сферических панорам </a:t>
            </a:r>
            <a:r>
              <a:rPr lang="ru-RU" dirty="0"/>
              <a:t>в сети Интернет и организации взаимодействия с ними на примере создания игры </a:t>
            </a:r>
            <a:r>
              <a:rPr lang="ru-RU" dirty="0" err="1"/>
              <a:t>BelGuessr</a:t>
            </a:r>
            <a:r>
              <a:rPr lang="ru-RU" dirty="0"/>
              <a:t> и анализ возможностей использования различных сервисов для интеграции панорамных изображений в интерактивные веб-приложения.</a:t>
            </a:r>
            <a:endParaRPr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503D3E-6EE4-993B-607E-5691282D9B2A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B9FE81C1-13E5-33A3-79AF-2EDA7950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>
            <a:extLst>
              <a:ext uri="{FF2B5EF4-FFF2-40B4-BE49-F238E27FC236}">
                <a16:creationId xmlns:a16="http://schemas.microsoft.com/office/drawing/2014/main" id="{1E8EDB70-FA72-ACB8-0B22-E915C0354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6350" y="1142999"/>
            <a:ext cx="8439300" cy="8167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Poppins ExtraBold" panose="00000900000000000000" pitchFamily="2" charset="0"/>
              </a:rPr>
              <a:t>Объект исследования:</a:t>
            </a:r>
            <a:r>
              <a:rPr lang="ru-R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Poppins ExtraBold" panose="00000900000000000000" pitchFamily="2" charset="0"/>
              </a:rPr>
              <a:t> </a:t>
            </a:r>
            <a:endParaRPr b="1" dirty="0"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561" name="Google Shape;561;p25">
            <a:extLst>
              <a:ext uri="{FF2B5EF4-FFF2-40B4-BE49-F238E27FC236}">
                <a16:creationId xmlns:a16="http://schemas.microsoft.com/office/drawing/2014/main" id="{C66B9D66-17A3-ED4E-F04E-F4FE51CF1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6350" y="1959724"/>
            <a:ext cx="8439300" cy="94250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процессы</a:t>
            </a:r>
            <a:r>
              <a:rPr lang="ru-RU" dirty="0"/>
              <a:t> размещения сферических панорам в сети Интернет и технологии взаимодействия с ними в веб-приложениях.</a:t>
            </a:r>
            <a:endParaRPr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D260B2-F9B4-1995-2F95-262DC77D2D27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Google Shape;560;p25">
            <a:extLst>
              <a:ext uri="{FF2B5EF4-FFF2-40B4-BE49-F238E27FC236}">
                <a16:creationId xmlns:a16="http://schemas.microsoft.com/office/drawing/2014/main" id="{9DEEB570-6FE1-BB1F-FB9C-903FEB5C2F48}"/>
              </a:ext>
            </a:extLst>
          </p:cNvPr>
          <p:cNvSpPr txBox="1">
            <a:spLocks/>
          </p:cNvSpPr>
          <p:nvPr/>
        </p:nvSpPr>
        <p:spPr>
          <a:xfrm>
            <a:off x="1876350" y="2612275"/>
            <a:ext cx="8439300" cy="81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ExtraBold"/>
              <a:buNone/>
              <a:defRPr sz="4500" b="0" i="0" u="none" strike="noStrike" cap="none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Poppins ExtraBold" panose="00000900000000000000" pitchFamily="2" charset="0"/>
              </a:rPr>
              <a:t>Предмет исследования: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Poppins ExtraBold" panose="00000900000000000000" pitchFamily="2" charset="0"/>
              </a:rPr>
              <a:t> </a:t>
            </a:r>
            <a:endParaRPr lang="ru-RU" b="1" dirty="0">
              <a:cs typeface="Poppins ExtraBold" panose="00000900000000000000" pitchFamily="2" charset="0"/>
            </a:endParaRPr>
          </a:p>
        </p:txBody>
      </p:sp>
      <p:sp>
        <p:nvSpPr>
          <p:cNvPr id="4" name="Google Shape;561;p25">
            <a:extLst>
              <a:ext uri="{FF2B5EF4-FFF2-40B4-BE49-F238E27FC236}">
                <a16:creationId xmlns:a16="http://schemas.microsoft.com/office/drawing/2014/main" id="{135B9EE8-75F3-D64B-AC8A-88EA5C0042E6}"/>
              </a:ext>
            </a:extLst>
          </p:cNvPr>
          <p:cNvSpPr txBox="1">
            <a:spLocks/>
          </p:cNvSpPr>
          <p:nvPr/>
        </p:nvSpPr>
        <p:spPr>
          <a:xfrm>
            <a:off x="1876350" y="3429000"/>
            <a:ext cx="8439300" cy="151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buFont typeface="Poppins Light"/>
              <a:buNone/>
            </a:pPr>
            <a:r>
              <a:rPr lang="ru-RU" sz="2000" b="1" dirty="0"/>
              <a:t>бесплатные</a:t>
            </a:r>
            <a:r>
              <a:rPr lang="ru-RU" sz="2000" dirty="0"/>
              <a:t> технологии и инструменты для размещения сферических панорам в сети Интернет и организация интерактивного взаимодействия с ними на примере создания игры </a:t>
            </a:r>
            <a:r>
              <a:rPr lang="ru-RU" sz="2000" dirty="0" err="1"/>
              <a:t>BelGuessr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610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>
          <a:extLst>
            <a:ext uri="{FF2B5EF4-FFF2-40B4-BE49-F238E27FC236}">
              <a16:creationId xmlns:a16="http://schemas.microsoft.com/office/drawing/2014/main" id="{6D2F55E9-181A-B9F4-3B91-4E495861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>
            <a:extLst>
              <a:ext uri="{FF2B5EF4-FFF2-40B4-BE49-F238E27FC236}">
                <a16:creationId xmlns:a16="http://schemas.microsoft.com/office/drawing/2014/main" id="{8F3F2F2C-5DFE-F9C0-BE72-0CC87E7C2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6350" y="1142999"/>
            <a:ext cx="8439300" cy="81672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Гипотеза исследования: </a:t>
            </a:r>
          </a:p>
        </p:txBody>
      </p:sp>
      <p:sp>
        <p:nvSpPr>
          <p:cNvPr id="561" name="Google Shape;561;p25">
            <a:extLst>
              <a:ext uri="{FF2B5EF4-FFF2-40B4-BE49-F238E27FC236}">
                <a16:creationId xmlns:a16="http://schemas.microsoft.com/office/drawing/2014/main" id="{979A69D3-4DC2-7377-1F8C-1077F64A1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6350" y="2035452"/>
            <a:ext cx="8439300" cy="22582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существует ряд </a:t>
            </a:r>
            <a:r>
              <a:rPr lang="ru-RU" b="1" dirty="0"/>
              <a:t>бесплатных</a:t>
            </a:r>
            <a:r>
              <a:rPr lang="ru-RU" dirty="0"/>
              <a:t> решений, позволяющих размещать сферические панорамы в сети Интернет и организовывать интерактивное взаимодействие с ними. Эти решения могут быть использованы для создания игровых веб-приложений, подобных </a:t>
            </a:r>
            <a:r>
              <a:rPr lang="ru-RU" dirty="0" err="1"/>
              <a:t>BelGuessr</a:t>
            </a:r>
            <a:r>
              <a:rPr lang="ru-RU" dirty="0"/>
              <a:t>, без необходимости разрабатывать собственные дорогостоящие платформы для хранения и отображения панорам.</a:t>
            </a:r>
            <a:endParaRPr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A34C7FD-F066-8392-3960-C1E385DA8E23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0206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3"/>
          <p:cNvSpPr txBox="1">
            <a:spLocks noGrp="1"/>
          </p:cNvSpPr>
          <p:nvPr>
            <p:ph type="title"/>
          </p:nvPr>
        </p:nvSpPr>
        <p:spPr>
          <a:xfrm>
            <a:off x="4677525" y="593375"/>
            <a:ext cx="68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-RU" b="1" dirty="0"/>
              <a:t>Основные задачи</a:t>
            </a:r>
            <a:endParaRPr b="1" dirty="0"/>
          </a:p>
        </p:txBody>
      </p:sp>
      <p:sp>
        <p:nvSpPr>
          <p:cNvPr id="531" name="Google Shape;531;p23"/>
          <p:cNvSpPr txBox="1">
            <a:spLocks noGrp="1"/>
          </p:cNvSpPr>
          <p:nvPr>
            <p:ph type="subTitle" idx="1"/>
          </p:nvPr>
        </p:nvSpPr>
        <p:spPr>
          <a:xfrm>
            <a:off x="5487527" y="163727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dirty="0"/>
              <a:t>Изучить</a:t>
            </a:r>
            <a:endParaRPr dirty="0"/>
          </a:p>
        </p:txBody>
      </p:sp>
      <p:sp>
        <p:nvSpPr>
          <p:cNvPr id="532" name="Google Shape;532;p23"/>
          <p:cNvSpPr txBox="1">
            <a:spLocks noGrp="1"/>
          </p:cNvSpPr>
          <p:nvPr>
            <p:ph type="body" idx="2"/>
          </p:nvPr>
        </p:nvSpPr>
        <p:spPr>
          <a:xfrm>
            <a:off x="5487527" y="1826148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основные способы размещения сферических панорам в сети Интернет и их технические особенности.</a:t>
            </a:r>
            <a:endParaRPr dirty="0"/>
          </a:p>
        </p:txBody>
      </p:sp>
      <p:sp>
        <p:nvSpPr>
          <p:cNvPr id="533" name="Google Shape;533;p23"/>
          <p:cNvSpPr txBox="1">
            <a:spLocks noGrp="1"/>
          </p:cNvSpPr>
          <p:nvPr>
            <p:ph type="subTitle" idx="3"/>
          </p:nvPr>
        </p:nvSpPr>
        <p:spPr>
          <a:xfrm>
            <a:off x="5487525" y="239987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dirty="0"/>
              <a:t>Рассмотреть</a:t>
            </a:r>
            <a:endParaRPr dirty="0"/>
          </a:p>
        </p:txBody>
      </p:sp>
      <p:sp>
        <p:nvSpPr>
          <p:cNvPr id="534" name="Google Shape;534;p23"/>
          <p:cNvSpPr txBox="1">
            <a:spLocks noGrp="1"/>
          </p:cNvSpPr>
          <p:nvPr>
            <p:ph type="body" idx="4"/>
          </p:nvPr>
        </p:nvSpPr>
        <p:spPr>
          <a:xfrm>
            <a:off x="5487525" y="2583495"/>
            <a:ext cx="6084000" cy="59520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существующие технологии для взаимодействия с панорамными изображениями в веб-приложениях.</a:t>
            </a:r>
            <a:endParaRPr dirty="0"/>
          </a:p>
        </p:txBody>
      </p:sp>
      <p:sp>
        <p:nvSpPr>
          <p:cNvPr id="535" name="Google Shape;535;p23"/>
          <p:cNvSpPr txBox="1">
            <a:spLocks noGrp="1"/>
          </p:cNvSpPr>
          <p:nvPr>
            <p:ph type="subTitle" idx="5"/>
          </p:nvPr>
        </p:nvSpPr>
        <p:spPr>
          <a:xfrm>
            <a:off x="5487525" y="3196116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dirty="0"/>
              <a:t>Проанализировать</a:t>
            </a:r>
            <a:endParaRPr dirty="0"/>
          </a:p>
        </p:txBody>
      </p:sp>
      <p:sp>
        <p:nvSpPr>
          <p:cNvPr id="536" name="Google Shape;536;p23"/>
          <p:cNvSpPr txBox="1">
            <a:spLocks noGrp="1"/>
          </p:cNvSpPr>
          <p:nvPr>
            <p:ph type="body" idx="6"/>
          </p:nvPr>
        </p:nvSpPr>
        <p:spPr>
          <a:xfrm>
            <a:off x="5487525" y="3390332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функциональные возможности сервиса «1</a:t>
            </a:r>
            <a:r>
              <a:rPr lang="en-US" dirty="0"/>
              <a:t>panorama.ru</a:t>
            </a:r>
            <a:r>
              <a:rPr lang="ru-RU" dirty="0"/>
              <a:t>».</a:t>
            </a:r>
            <a:endParaRPr dirty="0"/>
          </a:p>
        </p:txBody>
      </p:sp>
      <p:sp>
        <p:nvSpPr>
          <p:cNvPr id="537" name="Google Shape;537;p23"/>
          <p:cNvSpPr txBox="1">
            <a:spLocks noGrp="1"/>
          </p:cNvSpPr>
          <p:nvPr>
            <p:ph type="subTitle" idx="7"/>
          </p:nvPr>
        </p:nvSpPr>
        <p:spPr>
          <a:xfrm>
            <a:off x="5487525" y="390546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dirty="0"/>
              <a:t>Разработать</a:t>
            </a:r>
            <a:endParaRPr dirty="0"/>
          </a:p>
        </p:txBody>
      </p:sp>
      <p:sp>
        <p:nvSpPr>
          <p:cNvPr id="538" name="Google Shape;538;p23"/>
          <p:cNvSpPr txBox="1">
            <a:spLocks noGrp="1"/>
          </p:cNvSpPr>
          <p:nvPr>
            <p:ph type="body" idx="8"/>
          </p:nvPr>
        </p:nvSpPr>
        <p:spPr>
          <a:xfrm>
            <a:off x="5487525" y="4091660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методику интеграции сферических панорам в игровое веб-приложение на примере </a:t>
            </a:r>
            <a:r>
              <a:rPr lang="ru-RU" dirty="0" err="1"/>
              <a:t>BelGuessr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539" name="Google Shape;539;p23"/>
          <p:cNvSpPr txBox="1">
            <a:spLocks noGrp="1"/>
          </p:cNvSpPr>
          <p:nvPr>
            <p:ph type="subTitle" idx="9"/>
          </p:nvPr>
        </p:nvSpPr>
        <p:spPr>
          <a:xfrm>
            <a:off x="5487525" y="4640415"/>
            <a:ext cx="6084000" cy="31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dirty="0"/>
              <a:t>Оценить</a:t>
            </a:r>
            <a:endParaRPr dirty="0"/>
          </a:p>
        </p:txBody>
      </p:sp>
      <p:sp>
        <p:nvSpPr>
          <p:cNvPr id="540" name="Google Shape;540;p23"/>
          <p:cNvSpPr txBox="1">
            <a:spLocks noGrp="1"/>
          </p:cNvSpPr>
          <p:nvPr>
            <p:ph type="body" idx="13"/>
          </p:nvPr>
        </p:nvSpPr>
        <p:spPr>
          <a:xfrm>
            <a:off x="5487525" y="4829920"/>
            <a:ext cx="6084000" cy="4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удобство и эффективность выбранного метода отображения и взаимодействия с панорамами в игре.</a:t>
            </a:r>
            <a:endParaRPr dirty="0"/>
          </a:p>
        </p:txBody>
      </p:sp>
      <p:sp>
        <p:nvSpPr>
          <p:cNvPr id="543" name="Google Shape;543;p23"/>
          <p:cNvSpPr/>
          <p:nvPr/>
        </p:nvSpPr>
        <p:spPr>
          <a:xfrm>
            <a:off x="4677513" y="1792675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4677513" y="4795815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05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4677513" y="404503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4677513" y="3294245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4677513" y="254346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392DB6-6746-3EF3-CFA2-DB1CEBC7EF11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/>
          <p:cNvSpPr txBox="1">
            <a:spLocks noGrp="1"/>
          </p:cNvSpPr>
          <p:nvPr>
            <p:ph type="body" idx="1"/>
          </p:nvPr>
        </p:nvSpPr>
        <p:spPr>
          <a:xfrm>
            <a:off x="1614900" y="2996840"/>
            <a:ext cx="8962200" cy="8643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/>
              <a:t>Среди наиболее мощных сервисов можно выделить </a:t>
            </a:r>
            <a:br>
              <a:rPr lang="ru-RU" sz="2000" dirty="0"/>
            </a:br>
            <a:r>
              <a:rPr lang="en-US" sz="2000" b="1" dirty="0"/>
              <a:t>google Maps</a:t>
            </a:r>
            <a:r>
              <a:rPr lang="ru-RU" sz="2000" b="1" dirty="0"/>
              <a:t> </a:t>
            </a:r>
            <a:r>
              <a:rPr lang="ru-RU" sz="2000" dirty="0"/>
              <a:t>и </a:t>
            </a:r>
            <a:r>
              <a:rPr lang="en-US" sz="2000" b="1" dirty="0"/>
              <a:t>Yandex Maps</a:t>
            </a:r>
            <a:endParaRPr sz="2000" dirty="0"/>
          </a:p>
        </p:txBody>
      </p:sp>
      <p:sp>
        <p:nvSpPr>
          <p:cNvPr id="555" name="Google Shape;555;p24"/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AED993-5659-249A-73DF-4629B8553950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A36A288F-2A1C-37A7-B803-57CBB2830883}"/>
              </a:ext>
            </a:extLst>
          </p:cNvPr>
          <p:cNvSpPr txBox="1">
            <a:spLocks/>
          </p:cNvSpPr>
          <p:nvPr/>
        </p:nvSpPr>
        <p:spPr>
          <a:xfrm>
            <a:off x="3445703" y="701895"/>
            <a:ext cx="5101811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spcAft>
                <a:spcPts val="1600"/>
              </a:spcAft>
              <a:buFont typeface="Poppins Light"/>
              <a:buNone/>
            </a:pPr>
            <a:r>
              <a:rPr lang="ru-RU" sz="2000" dirty="0"/>
              <a:t>Способы размещения сферических панорам в сети Интернет и их технические особенности.</a:t>
            </a:r>
            <a:endParaRPr lang="en-US" sz="20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A61B6B4-C82B-AF8E-E253-8C7EF6378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57821"/>
              </p:ext>
            </p:extLst>
          </p:nvPr>
        </p:nvGraphicFramePr>
        <p:xfrm>
          <a:off x="1773582" y="4169875"/>
          <a:ext cx="8127999" cy="12598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653826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057566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82771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Yandex 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</a:rPr>
                        <a:t>Maps</a:t>
                      </a:r>
                      <a:endParaRPr lang="LID4096" b="0" dirty="0">
                        <a:solidFill>
                          <a:schemeClr val="bg2"/>
                        </a:solidFill>
                        <a:latin typeface="Aptos Display" panose="020B0004020202020204" pitchFamily="34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Google Maps</a:t>
                      </a:r>
                      <a:endParaRPr lang="LID4096" dirty="0">
                        <a:solidFill>
                          <a:schemeClr val="bg2"/>
                        </a:solidFill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14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Наличие </a:t>
                      </a:r>
                      <a:r>
                        <a:rPr lang="en-US" dirty="0"/>
                        <a:t>API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Есть, но </a:t>
                      </a:r>
                      <a:r>
                        <a:rPr lang="ru-RU" b="1" dirty="0"/>
                        <a:t>платное</a:t>
                      </a:r>
                      <a:endParaRPr lang="LID4096" b="1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 и бесплатное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5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Возможность размещения панорам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 ограничены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Нельзя добавлять </a:t>
                      </a:r>
                      <a:r>
                        <a:rPr lang="ru-RU" dirty="0"/>
                        <a:t>панорамы из Беларуси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2051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F606E21F-E565-8171-5680-BF1D231BE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>
            <a:extLst>
              <a:ext uri="{FF2B5EF4-FFF2-40B4-BE49-F238E27FC236}">
                <a16:creationId xmlns:a16="http://schemas.microsoft.com/office/drawing/2014/main" id="{1CA9D8ED-0893-0880-E9B7-DCC32BA75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14900" y="2996840"/>
            <a:ext cx="8962200" cy="8643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/>
              <a:t>Следующие сервисы позволяют создавать интерактивные панорамы, но не предоставляют хостинга для их размещения:</a:t>
            </a:r>
            <a:endParaRPr sz="2000" dirty="0"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C0FF9593-26D1-3840-77CB-4F6174A9F1A7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3AFF3-6218-5B96-60EB-7066EC6D943F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C56C31C2-CF9D-807B-7A0D-F4053886BFFD}"/>
              </a:ext>
            </a:extLst>
          </p:cNvPr>
          <p:cNvSpPr txBox="1">
            <a:spLocks/>
          </p:cNvSpPr>
          <p:nvPr/>
        </p:nvSpPr>
        <p:spPr>
          <a:xfrm>
            <a:off x="3445703" y="701895"/>
            <a:ext cx="5101811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spcAft>
                <a:spcPts val="1600"/>
              </a:spcAft>
              <a:buFont typeface="Poppins Light"/>
              <a:buNone/>
            </a:pPr>
            <a:r>
              <a:rPr lang="ru-RU" sz="2000" dirty="0"/>
              <a:t>Способы размещения сферических панорам в сети Интернет и их технические особенности.</a:t>
            </a:r>
            <a:endParaRPr lang="en-US" sz="20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86DC0D7D-E352-E0BA-F848-5C0FA1BC4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049916"/>
              </p:ext>
            </p:extLst>
          </p:nvPr>
        </p:nvGraphicFramePr>
        <p:xfrm>
          <a:off x="1773582" y="4169875"/>
          <a:ext cx="8127999" cy="14071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653826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057566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82771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Сервис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Стоимость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Примечание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1416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 err="1">
                          <a:effectLst/>
                        </a:rPr>
                        <a:t>Pannellum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Бесплатно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Нет хостинга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5437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 err="1">
                          <a:effectLst/>
                        </a:rPr>
                        <a:t>Marzipano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Бесплатно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Нет хостинга</a:t>
                      </a:r>
                      <a:endParaRPr lang="LID4096" dirty="0"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205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90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7516C272-3985-1FC3-BDE9-906D25C7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>
            <a:extLst>
              <a:ext uri="{FF2B5EF4-FFF2-40B4-BE49-F238E27FC236}">
                <a16:creationId xmlns:a16="http://schemas.microsoft.com/office/drawing/2014/main" id="{9B62876A-2623-F036-B06F-ECB13F35D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45703" y="2285639"/>
            <a:ext cx="8962200" cy="53145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/>
              <a:t>Условно бесплатные сервисы:</a:t>
            </a:r>
            <a:endParaRPr sz="2000" dirty="0"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A248378C-7FFD-6BD6-39D7-A11F5ECCB0E1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5FF3C8-664C-A397-1F82-7BA8343A787A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71F56111-F079-438E-C2A8-6E8D76173E00}"/>
              </a:ext>
            </a:extLst>
          </p:cNvPr>
          <p:cNvSpPr txBox="1">
            <a:spLocks/>
          </p:cNvSpPr>
          <p:nvPr/>
        </p:nvSpPr>
        <p:spPr>
          <a:xfrm>
            <a:off x="3445703" y="701895"/>
            <a:ext cx="5101811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spcAft>
                <a:spcPts val="1600"/>
              </a:spcAft>
              <a:buFont typeface="Poppins Light"/>
              <a:buNone/>
            </a:pPr>
            <a:r>
              <a:rPr lang="ru-RU" sz="2000" dirty="0"/>
              <a:t>Способы размещения сферических панорам в сети Интернет и их технические особенности.</a:t>
            </a:r>
            <a:endParaRPr lang="en-US" sz="20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953612C8-2CB6-ABBA-57FC-20FECCA42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7649"/>
              </p:ext>
            </p:extLst>
          </p:nvPr>
        </p:nvGraphicFramePr>
        <p:xfrm>
          <a:off x="1614900" y="3283868"/>
          <a:ext cx="8127999" cy="33768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653826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057566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82771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Сервис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Стоимость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Примечание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141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 err="1">
                          <a:effectLst/>
                        </a:rPr>
                        <a:t>Roundme</a:t>
                      </a:r>
                      <a:endParaRPr lang="en-US" sz="1200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Бесплатно до 15 панорам, 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дальше от $9/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Есть хостинг</a:t>
                      </a:r>
                      <a:endParaRPr lang="LID4096" sz="1200" dirty="0">
                        <a:cs typeface="Poppins Light" panose="000004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05437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 err="1">
                          <a:effectLst/>
                        </a:rPr>
                        <a:t>Panoee</a:t>
                      </a:r>
                      <a:endParaRPr lang="en-US" sz="1200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Бесплатно до 2 туров, 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дальше от $9/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81F48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Есть хостинг</a:t>
                      </a:r>
                      <a:endParaRPr kumimoji="0" lang="LID4096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81F48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Poppins Light" panose="00000400000000000000" pitchFamily="2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2051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 err="1">
                          <a:effectLst/>
                        </a:rPr>
                        <a:t>SeekBeak</a:t>
                      </a:r>
                      <a:endParaRPr lang="en-US" sz="1200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Бесплатно до 10 панорам, 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дальше от $14/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81F48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Есть хостинг</a:t>
                      </a:r>
                      <a:endParaRPr kumimoji="0" lang="LID4096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81F48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Poppins Light" panose="00000400000000000000" pitchFamily="2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12412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</a:rPr>
                        <a:t>Momento360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Бесплатно до 100 панорам, дальше от $9.99/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81F48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Есть хостинг</a:t>
                      </a:r>
                      <a:endParaRPr kumimoji="0" lang="LID4096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81F48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Poppins Light" panose="00000400000000000000" pitchFamily="2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9550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>
                          <a:effectLst/>
                        </a:rPr>
                        <a:t>Vinity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Только платные планы 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от $33/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81F48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Есть хостинг</a:t>
                      </a:r>
                      <a:endParaRPr kumimoji="0" lang="LID4096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81F48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Poppins Light" panose="00000400000000000000" pitchFamily="2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3486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 err="1">
                          <a:effectLst/>
                        </a:rPr>
                        <a:t>Metareal</a:t>
                      </a:r>
                      <a:endParaRPr lang="en-US" sz="1200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От $19/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81F48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Есть хостинг</a:t>
                      </a:r>
                      <a:endParaRPr kumimoji="0" lang="LID4096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81F48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Poppins Light" panose="00000400000000000000" pitchFamily="2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84549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dirty="0" err="1">
                          <a:effectLst/>
                        </a:rPr>
                        <a:t>TeliportMe</a:t>
                      </a:r>
                      <a:endParaRPr lang="en-US" sz="1200" b="1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От $19/</a:t>
                      </a:r>
                      <a:r>
                        <a:rPr lang="ru-RU" sz="1200" dirty="0" err="1">
                          <a:effectLst/>
                        </a:rPr>
                        <a:t>мес</a:t>
                      </a:r>
                      <a:endParaRPr lang="ru-RU" sz="120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81F48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Есть хостинг</a:t>
                      </a:r>
                      <a:endParaRPr kumimoji="0" lang="LID4096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481F48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Poppins Light" panose="00000400000000000000" pitchFamily="2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820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42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2C401505-7AA1-941E-C5BF-FDAE2B68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07E301D8-D335-3A7B-7C47-A94DFB37B3C1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ru-RU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9DFB1B-7A04-9F27-6653-775449E2E87C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B5F386EA-AE49-316C-25C9-53384E3EE890}"/>
              </a:ext>
            </a:extLst>
          </p:cNvPr>
          <p:cNvSpPr txBox="1">
            <a:spLocks/>
          </p:cNvSpPr>
          <p:nvPr/>
        </p:nvSpPr>
        <p:spPr>
          <a:xfrm>
            <a:off x="3436813" y="699958"/>
            <a:ext cx="5101811" cy="14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ru-RU" dirty="0"/>
              <a:t>Сравнительная характеристика сервисов для размещения панорамных фото</a:t>
            </a:r>
            <a:endParaRPr lang="en-US" sz="20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D245C2A-2BD7-DFA4-8629-6D805C96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39061"/>
              </p:ext>
            </p:extLst>
          </p:nvPr>
        </p:nvGraphicFramePr>
        <p:xfrm>
          <a:off x="1087293" y="2902163"/>
          <a:ext cx="8705850" cy="3606483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324513">
                  <a:extLst>
                    <a:ext uri="{9D8B030D-6E8A-4147-A177-3AD203B41FA5}">
                      <a16:colId xmlns:a16="http://schemas.microsoft.com/office/drawing/2014/main" val="3227048872"/>
                    </a:ext>
                  </a:extLst>
                </a:gridCol>
                <a:gridCol w="1255030">
                  <a:extLst>
                    <a:ext uri="{9D8B030D-6E8A-4147-A177-3AD203B41FA5}">
                      <a16:colId xmlns:a16="http://schemas.microsoft.com/office/drawing/2014/main" val="41063815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3982074369"/>
                    </a:ext>
                  </a:extLst>
                </a:gridCol>
                <a:gridCol w="1080655">
                  <a:extLst>
                    <a:ext uri="{9D8B030D-6E8A-4147-A177-3AD203B41FA5}">
                      <a16:colId xmlns:a16="http://schemas.microsoft.com/office/drawing/2014/main" val="3092312032"/>
                    </a:ext>
                  </a:extLst>
                </a:gridCol>
                <a:gridCol w="1173018">
                  <a:extLst>
                    <a:ext uri="{9D8B030D-6E8A-4147-A177-3AD203B41FA5}">
                      <a16:colId xmlns:a16="http://schemas.microsoft.com/office/drawing/2014/main" val="1010540742"/>
                    </a:ext>
                  </a:extLst>
                </a:gridCol>
                <a:gridCol w="1275179">
                  <a:extLst>
                    <a:ext uri="{9D8B030D-6E8A-4147-A177-3AD203B41FA5}">
                      <a16:colId xmlns:a16="http://schemas.microsoft.com/office/drawing/2014/main" val="2119341653"/>
                    </a:ext>
                  </a:extLst>
                </a:gridCol>
                <a:gridCol w="1350546">
                  <a:extLst>
                    <a:ext uri="{9D8B030D-6E8A-4147-A177-3AD203B41FA5}">
                      <a16:colId xmlns:a16="http://schemas.microsoft.com/office/drawing/2014/main" val="425316688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Характеристика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360Cities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TrueVirtualTours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1Panorama (</a:t>
                      </a: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лучший бесплатный)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Яндекс </a:t>
                      </a: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Maps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Google Maps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Kuula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306387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Стоимость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Бесплатно (с ограничениями), подписка от 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$39/</a:t>
                      </a:r>
                      <a:r>
                        <a:rPr lang="ru-RU" sz="1100" b="1" kern="100" dirty="0" err="1">
                          <a:effectLst/>
                          <a:latin typeface="+mj-lt"/>
                          <a:cs typeface="Poppins Light" panose="00000400000000000000" pitchFamily="2" charset="0"/>
                        </a:rPr>
                        <a:t>мес</a:t>
                      </a:r>
                      <a:endParaRPr lang="ru-RU" sz="1100" b="1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Бесплатно (ограниченный функционал), PRO от 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$5/</a:t>
                      </a:r>
                      <a:r>
                        <a:rPr lang="ru-RU" sz="1100" b="1" kern="100" dirty="0" err="1">
                          <a:effectLst/>
                          <a:latin typeface="+mj-lt"/>
                          <a:cs typeface="Poppins Light" panose="00000400000000000000" pitchFamily="2" charset="0"/>
                        </a:rPr>
                        <a:t>мес</a:t>
                      </a:r>
                      <a:endParaRPr lang="ru-RU" sz="1100" b="1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Полностью бесплатно, без ограничений по панорамам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Бесплатно для пользователей, 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API платное</a:t>
                      </a:r>
                      <a:r>
                        <a:rPr lang="en-US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 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от </a:t>
                      </a:r>
                      <a:r>
                        <a:rPr lang="en-US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$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100/</a:t>
                      </a:r>
                      <a:r>
                        <a:rPr lang="ru-RU" sz="1100" b="1" kern="100" dirty="0" err="1">
                          <a:effectLst/>
                          <a:latin typeface="+mj-lt"/>
                          <a:cs typeface="Poppins Light" panose="00000400000000000000" pitchFamily="2" charset="0"/>
                        </a:rPr>
                        <a:t>мес</a:t>
                      </a:r>
                      <a:endParaRPr lang="ru-RU" sz="1100" b="1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Бесплатно для пользователей, 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API платное зависит от количества запросов</a:t>
                      </a:r>
                      <a:endParaRPr lang="ru-RU" sz="1100" b="1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Бесплатно (с ограничениями), PRO от </a:t>
                      </a:r>
                      <a:r>
                        <a:rPr lang="ru-RU" sz="1100" b="1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$8/</a:t>
                      </a:r>
                      <a:r>
                        <a:rPr lang="ru-RU" sz="1100" b="1" kern="100" dirty="0" err="1">
                          <a:effectLst/>
                          <a:latin typeface="+mj-lt"/>
                          <a:cs typeface="Poppins Light" panose="00000400000000000000" pitchFamily="2" charset="0"/>
                        </a:rPr>
                        <a:t>мес</a:t>
                      </a:r>
                      <a:endParaRPr lang="ru-RU" sz="1100" b="1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641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Качество изображений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Высокое, поддержка </a:t>
                      </a:r>
                      <a:r>
                        <a:rPr lang="en-US" sz="1100" kern="100">
                          <a:effectLst/>
                          <a:latin typeface="+mj-lt"/>
                          <a:cs typeface="Poppins Light" panose="00000400000000000000" pitchFamily="2" charset="0"/>
                        </a:rPr>
                        <a:t>HDR</a:t>
                      </a:r>
                      <a:endParaRPr lang="en-US" sz="1100" kern="10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Высокое</a:t>
                      </a:r>
                      <a:endParaRPr lang="ru-RU" sz="1100" kern="10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Среднее/высокое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Высокое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Высокое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Низкое на бесплатном аккаунте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205208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Монетизация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Да, продажа лицензий и подписка</a:t>
                      </a:r>
                      <a:endParaRPr lang="ru-RU" sz="1100" kern="10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 err="1">
                          <a:effectLst/>
                          <a:latin typeface="+mj-lt"/>
                          <a:cs typeface="Poppins Light" panose="00000400000000000000" pitchFamily="2" charset="0"/>
                        </a:rPr>
                        <a:t>Рефаральная</a:t>
                      </a: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 программа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Нет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Нет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Нет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Нет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252190"/>
                  </a:ext>
                </a:extLst>
              </a:tr>
            </a:tbl>
          </a:graphicData>
        </a:graphic>
      </p:graphicFrame>
      <p:sp>
        <p:nvSpPr>
          <p:cNvPr id="7" name="Google Shape;554;p24">
            <a:extLst>
              <a:ext uri="{FF2B5EF4-FFF2-40B4-BE49-F238E27FC236}">
                <a16:creationId xmlns:a16="http://schemas.microsoft.com/office/drawing/2014/main" id="{68826CA2-8372-FB7F-04F5-05365FCB7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45703" y="2285639"/>
            <a:ext cx="8962200" cy="53145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/>
              <a:t>Сервисы, что были интегрированы и опробованы: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56925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8C9DDF57-946D-EF52-CF2C-E9A7FAF9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75557C0C-B4B6-0F24-ECCE-ECF0BB0345EF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ru-RU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6A7A8F-A91D-6979-A050-F203DF3BD2A0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EE635AD4-6533-2228-CF76-D6EC33D94768}"/>
              </a:ext>
            </a:extLst>
          </p:cNvPr>
          <p:cNvSpPr txBox="1">
            <a:spLocks/>
          </p:cNvSpPr>
          <p:nvPr/>
        </p:nvSpPr>
        <p:spPr>
          <a:xfrm>
            <a:off x="3436813" y="699959"/>
            <a:ext cx="5101811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ru-RU" b="1" dirty="0"/>
              <a:t>Сравнительная характеристика сервисов для размещения панорамных фото</a:t>
            </a:r>
            <a:endParaRPr lang="en-US" sz="20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D7F86FB-6BB7-B112-0FE2-DCE865DCE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023343"/>
              </p:ext>
            </p:extLst>
          </p:nvPr>
        </p:nvGraphicFramePr>
        <p:xfrm>
          <a:off x="1087293" y="2902163"/>
          <a:ext cx="8705850" cy="3427095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324513">
                  <a:extLst>
                    <a:ext uri="{9D8B030D-6E8A-4147-A177-3AD203B41FA5}">
                      <a16:colId xmlns:a16="http://schemas.microsoft.com/office/drawing/2014/main" val="3227048872"/>
                    </a:ext>
                  </a:extLst>
                </a:gridCol>
                <a:gridCol w="1084501">
                  <a:extLst>
                    <a:ext uri="{9D8B030D-6E8A-4147-A177-3AD203B41FA5}">
                      <a16:colId xmlns:a16="http://schemas.microsoft.com/office/drawing/2014/main" val="410638153"/>
                    </a:ext>
                  </a:extLst>
                </a:gridCol>
                <a:gridCol w="1349912">
                  <a:extLst>
                    <a:ext uri="{9D8B030D-6E8A-4147-A177-3AD203B41FA5}">
                      <a16:colId xmlns:a16="http://schemas.microsoft.com/office/drawing/2014/main" val="3982074369"/>
                    </a:ext>
                  </a:extLst>
                </a:gridCol>
                <a:gridCol w="1076246">
                  <a:extLst>
                    <a:ext uri="{9D8B030D-6E8A-4147-A177-3AD203B41FA5}">
                      <a16:colId xmlns:a16="http://schemas.microsoft.com/office/drawing/2014/main" val="3092312032"/>
                    </a:ext>
                  </a:extLst>
                </a:gridCol>
                <a:gridCol w="1170220">
                  <a:extLst>
                    <a:ext uri="{9D8B030D-6E8A-4147-A177-3AD203B41FA5}">
                      <a16:colId xmlns:a16="http://schemas.microsoft.com/office/drawing/2014/main" val="1010540742"/>
                    </a:ext>
                  </a:extLst>
                </a:gridCol>
                <a:gridCol w="1349912">
                  <a:extLst>
                    <a:ext uri="{9D8B030D-6E8A-4147-A177-3AD203B41FA5}">
                      <a16:colId xmlns:a16="http://schemas.microsoft.com/office/drawing/2014/main" val="2119341653"/>
                    </a:ext>
                  </a:extLst>
                </a:gridCol>
                <a:gridCol w="1350546">
                  <a:extLst>
                    <a:ext uri="{9D8B030D-6E8A-4147-A177-3AD203B41FA5}">
                      <a16:colId xmlns:a16="http://schemas.microsoft.com/office/drawing/2014/main" val="425316688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Характеристика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360Cities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TrueVirtualTours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1Panorama (</a:t>
                      </a: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лучший бесплатный)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Яндекс </a:t>
                      </a: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Maps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Google Maps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Kuula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306387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Поддержка 3</a:t>
                      </a:r>
                      <a:r>
                        <a:rPr lang="en-US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D-</a:t>
                      </a:r>
                      <a:r>
                        <a:rPr lang="ru-RU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туров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Да, но платно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Да, бесплатный редактор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Да, без ограничений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Нет, только отдельные панорамы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Нет, только </a:t>
                      </a:r>
                      <a:r>
                        <a:rPr lang="en-US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Street View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Да, платные функции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641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Интерактивные элементы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Ограничены (ссылка, текст)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Широкие (видео, ссылки, текст, HTML)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Ограничены, но для базового использования хватает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Нет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Нет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dirty="0">
                          <a:effectLst/>
                        </a:rPr>
                        <a:t>ограничена интерактивность</a:t>
                      </a:r>
                      <a:r>
                        <a:rPr lang="ru-RU" sz="1100" kern="100" dirty="0">
                          <a:effectLst/>
                          <a:latin typeface="+mj-lt"/>
                          <a:cs typeface="Poppins Light" panose="00000400000000000000" pitchFamily="2" charset="0"/>
                        </a:rPr>
                        <a:t> на бесплатном аккаунте</a:t>
                      </a:r>
                      <a:endParaRPr lang="ru-RU" sz="1100" dirty="0">
                        <a:effectLst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205208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Поддержка </a:t>
                      </a:r>
                      <a:r>
                        <a:rPr lang="en-US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VR</a:t>
                      </a:r>
                      <a:endParaRPr lang="en-US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Нет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252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104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B5DD52BD-FFE1-4621-31E7-2E6CA6A2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175B8D8E-4000-C2BB-0CED-0390884D1E56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ru-RU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1DEFA0-B149-E8F9-292E-54A61372D805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937BE2E8-569A-EADA-90D1-F95BD9DBAF98}"/>
              </a:ext>
            </a:extLst>
          </p:cNvPr>
          <p:cNvSpPr txBox="1">
            <a:spLocks/>
          </p:cNvSpPr>
          <p:nvPr/>
        </p:nvSpPr>
        <p:spPr>
          <a:xfrm>
            <a:off x="3436813" y="699959"/>
            <a:ext cx="5101811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ru-RU" b="1" dirty="0"/>
              <a:t>Сравнительная характеристика сервисов для размещения панорамных фото</a:t>
            </a:r>
            <a:endParaRPr lang="en-US" sz="20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8415E3F-2444-1F70-CA05-F8DBB1258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83531"/>
              </p:ext>
            </p:extLst>
          </p:nvPr>
        </p:nvGraphicFramePr>
        <p:xfrm>
          <a:off x="1087293" y="2902163"/>
          <a:ext cx="8705850" cy="3427095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324513">
                  <a:extLst>
                    <a:ext uri="{9D8B030D-6E8A-4147-A177-3AD203B41FA5}">
                      <a16:colId xmlns:a16="http://schemas.microsoft.com/office/drawing/2014/main" val="3227048872"/>
                    </a:ext>
                  </a:extLst>
                </a:gridCol>
                <a:gridCol w="1218085">
                  <a:extLst>
                    <a:ext uri="{9D8B030D-6E8A-4147-A177-3AD203B41FA5}">
                      <a16:colId xmlns:a16="http://schemas.microsoft.com/office/drawing/2014/main" val="410638153"/>
                    </a:ext>
                  </a:extLst>
                </a:gridCol>
                <a:gridCol w="1293091">
                  <a:extLst>
                    <a:ext uri="{9D8B030D-6E8A-4147-A177-3AD203B41FA5}">
                      <a16:colId xmlns:a16="http://schemas.microsoft.com/office/drawing/2014/main" val="3982074369"/>
                    </a:ext>
                  </a:extLst>
                </a:gridCol>
                <a:gridCol w="1071418">
                  <a:extLst>
                    <a:ext uri="{9D8B030D-6E8A-4147-A177-3AD203B41FA5}">
                      <a16:colId xmlns:a16="http://schemas.microsoft.com/office/drawing/2014/main" val="3092312032"/>
                    </a:ext>
                  </a:extLst>
                </a:gridCol>
                <a:gridCol w="1098285">
                  <a:extLst>
                    <a:ext uri="{9D8B030D-6E8A-4147-A177-3AD203B41FA5}">
                      <a16:colId xmlns:a16="http://schemas.microsoft.com/office/drawing/2014/main" val="1010540742"/>
                    </a:ext>
                  </a:extLst>
                </a:gridCol>
                <a:gridCol w="1349912">
                  <a:extLst>
                    <a:ext uri="{9D8B030D-6E8A-4147-A177-3AD203B41FA5}">
                      <a16:colId xmlns:a16="http://schemas.microsoft.com/office/drawing/2014/main" val="2119341653"/>
                    </a:ext>
                  </a:extLst>
                </a:gridCol>
                <a:gridCol w="1350546">
                  <a:extLst>
                    <a:ext uri="{9D8B030D-6E8A-4147-A177-3AD203B41FA5}">
                      <a16:colId xmlns:a16="http://schemas.microsoft.com/office/drawing/2014/main" val="4253166882"/>
                    </a:ext>
                  </a:extLst>
                </a:gridCol>
              </a:tblGrid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Характеристика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360Cities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TrueVirtualTours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1Panorama (</a:t>
                      </a: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лучший бесплатный)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Яндекс </a:t>
                      </a: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Maps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Google Maps</a:t>
                      </a:r>
                      <a:endParaRPr lang="ru-RU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Poppins Light" panose="00000400000000000000" pitchFamily="2" charset="0"/>
                        </a:rPr>
                        <a:t>Kuula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306387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SEO </a:t>
                      </a:r>
                      <a:r>
                        <a:rPr lang="ru-RU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и публикация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Хорошо индексируется в </a:t>
                      </a:r>
                      <a:r>
                        <a:rPr lang="en-US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Google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Можно встраивать на сайт, но индексация слабее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Можно встраивать, но SEO слабое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Индексация в поиске Яндекса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Хорошо индексируется в </a:t>
                      </a:r>
                      <a:r>
                        <a:rPr lang="en-US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Google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Хорошая индексация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641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Простота использования</a:t>
                      </a:r>
                      <a:endParaRPr lang="ru-RU" sz="11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Высокая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Простая и удобная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Высокая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Высокая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Средняя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205208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Дополнительные функции</a:t>
                      </a:r>
                      <a:endParaRPr lang="ru-RU" sz="1000" kern="100" dirty="0">
                        <a:effectLst/>
                        <a:latin typeface="+mj-lt"/>
                        <a:ea typeface="Calibri" panose="020F0502020204030204" pitchFamily="34" charset="0"/>
                        <a:cs typeface="Poppins Light" panose="00000400000000000000" pitchFamily="2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 err="1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Гигапиксельные</a:t>
                      </a: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 панорамы, карты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Аналитика посещений, </a:t>
                      </a:r>
                      <a:r>
                        <a:rPr lang="en-US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API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Загрузка панорам из Беларуси без ограничений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Встроено в Яндекс.Карты, но API платное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Нельзя загружать панорамы из Беларуси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3D-</a:t>
                      </a:r>
                      <a:r>
                        <a:rPr lang="ru-RU" sz="1100" b="0" kern="100" dirty="0">
                          <a:effectLst/>
                          <a:latin typeface="+mj-lt"/>
                          <a:ea typeface="Calibri" panose="020F0502020204030204" pitchFamily="34" charset="0"/>
                          <a:cs typeface="Poppins Light" panose="00000400000000000000" pitchFamily="2" charset="0"/>
                        </a:rPr>
                        <a:t>эффекты, частные туры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252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91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1"/>
          <p:cNvSpPr txBox="1">
            <a:spLocks noGrp="1"/>
          </p:cNvSpPr>
          <p:nvPr>
            <p:ph type="title"/>
          </p:nvPr>
        </p:nvSpPr>
        <p:spPr>
          <a:xfrm>
            <a:off x="444663" y="573575"/>
            <a:ext cx="8421029" cy="95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взаимодействия</a:t>
            </a:r>
            <a:endParaRPr dirty="0"/>
          </a:p>
        </p:txBody>
      </p:sp>
      <p:sp>
        <p:nvSpPr>
          <p:cNvPr id="609" name="Google Shape;609;p31"/>
          <p:cNvSpPr txBox="1">
            <a:spLocks noGrp="1"/>
          </p:cNvSpPr>
          <p:nvPr>
            <p:ph type="subTitle" idx="1"/>
          </p:nvPr>
        </p:nvSpPr>
        <p:spPr>
          <a:xfrm>
            <a:off x="1063797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360</a:t>
            </a:r>
            <a:r>
              <a:rPr lang="en-US" dirty="0"/>
              <a:t>cities.net</a:t>
            </a:r>
            <a:endParaRPr dirty="0"/>
          </a:p>
        </p:txBody>
      </p:sp>
      <p:sp>
        <p:nvSpPr>
          <p:cNvPr id="610" name="Google Shape;610;p31"/>
          <p:cNvSpPr txBox="1">
            <a:spLocks noGrp="1"/>
          </p:cNvSpPr>
          <p:nvPr>
            <p:ph type="body" idx="2"/>
          </p:nvPr>
        </p:nvSpPr>
        <p:spPr>
          <a:xfrm>
            <a:off x="1063724" y="2346084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ru-RU" sz="1600" dirty="0"/>
              <a:t>Нельзя связать панорамы в отдельный тур, на бесплатном аккаунте нельзя отключить платные ссылки, нет возможности вставить панораму на сайт в полноэкранном режиме.</a:t>
            </a:r>
            <a:endParaRPr sz="1600" dirty="0"/>
          </a:p>
        </p:txBody>
      </p:sp>
      <p:sp>
        <p:nvSpPr>
          <p:cNvPr id="611" name="Google Shape;611;p31"/>
          <p:cNvSpPr txBox="1">
            <a:spLocks noGrp="1"/>
          </p:cNvSpPr>
          <p:nvPr>
            <p:ph type="subTitle" idx="3"/>
          </p:nvPr>
        </p:nvSpPr>
        <p:spPr>
          <a:xfrm>
            <a:off x="5168585" y="1953000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TrueVirtualTours.com</a:t>
            </a:r>
            <a:endParaRPr dirty="0"/>
          </a:p>
        </p:txBody>
      </p:sp>
      <p:sp>
        <p:nvSpPr>
          <p:cNvPr id="612" name="Google Shape;612;p31"/>
          <p:cNvSpPr txBox="1">
            <a:spLocks noGrp="1"/>
          </p:cNvSpPr>
          <p:nvPr>
            <p:ph type="body" idx="4"/>
          </p:nvPr>
        </p:nvSpPr>
        <p:spPr>
          <a:xfrm>
            <a:off x="5168585" y="2366400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ru-RU" sz="1600" dirty="0"/>
              <a:t>Бесплатно можно разместить до 5 панорам в месяц, большая часть настроек платные, на бесплатном аккаунте все панорамы доступны 1 месяц.</a:t>
            </a:r>
            <a:endParaRPr sz="1600" dirty="0"/>
          </a:p>
        </p:txBody>
      </p:sp>
      <p:sp>
        <p:nvSpPr>
          <p:cNvPr id="613" name="Google Shape;613;p31"/>
          <p:cNvSpPr txBox="1">
            <a:spLocks noGrp="1"/>
          </p:cNvSpPr>
          <p:nvPr>
            <p:ph type="subTitle" idx="5"/>
          </p:nvPr>
        </p:nvSpPr>
        <p:spPr>
          <a:xfrm>
            <a:off x="3419813" y="4501225"/>
            <a:ext cx="3497400" cy="717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1panorama.ru</a:t>
            </a:r>
            <a:endParaRPr dirty="0"/>
          </a:p>
        </p:txBody>
      </p:sp>
      <p:sp>
        <p:nvSpPr>
          <p:cNvPr id="614" name="Google Shape;614;p31"/>
          <p:cNvSpPr txBox="1">
            <a:spLocks noGrp="1"/>
          </p:cNvSpPr>
          <p:nvPr>
            <p:ph type="body" idx="6"/>
          </p:nvPr>
        </p:nvSpPr>
        <p:spPr>
          <a:xfrm>
            <a:off x="3419813" y="4859725"/>
            <a:ext cx="34974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ts val="1018"/>
              <a:buNone/>
            </a:pPr>
            <a:r>
              <a:rPr lang="ru-RU" sz="1600" dirty="0"/>
              <a:t>Проблематично вставить панораму на сайт в полноэкранном режиме, долгая модерация панорам, не все панорамы доступны для виртуального тура, малое количество настроек.</a:t>
            </a:r>
            <a:endParaRPr sz="1600" dirty="0"/>
          </a:p>
        </p:txBody>
      </p:sp>
      <p:sp>
        <p:nvSpPr>
          <p:cNvPr id="617" name="Google Shape;617;p31"/>
          <p:cNvSpPr/>
          <p:nvPr/>
        </p:nvSpPr>
        <p:spPr>
          <a:xfrm>
            <a:off x="444663" y="206280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2800752" y="4556129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24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4561313" y="2062800"/>
            <a:ext cx="607200" cy="607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24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B98B0D4-7376-5178-BA5D-125C2E3C4BF2}"/>
              </a:ext>
            </a:extLst>
          </p:cNvPr>
          <p:cNvSpPr/>
          <p:nvPr/>
        </p:nvSpPr>
        <p:spPr>
          <a:xfrm>
            <a:off x="11110" y="5497514"/>
            <a:ext cx="285750" cy="134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 txBox="1">
            <a:spLocks noGrp="1"/>
          </p:cNvSpPr>
          <p:nvPr>
            <p:ph type="title"/>
          </p:nvPr>
        </p:nvSpPr>
        <p:spPr>
          <a:xfrm>
            <a:off x="659700" y="559876"/>
            <a:ext cx="10872600" cy="135404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Взаимодействие с сервисом 1</a:t>
            </a:r>
            <a:r>
              <a:rPr lang="en-US" dirty="0"/>
              <a:t>panorama.ru</a:t>
            </a:r>
            <a:endParaRPr dirty="0"/>
          </a:p>
        </p:txBody>
      </p:sp>
      <p:sp>
        <p:nvSpPr>
          <p:cNvPr id="782" name="Google Shape;782;p40"/>
          <p:cNvSpPr txBox="1">
            <a:spLocks noGrp="1"/>
          </p:cNvSpPr>
          <p:nvPr>
            <p:ph type="body" idx="1"/>
          </p:nvPr>
        </p:nvSpPr>
        <p:spPr>
          <a:xfrm>
            <a:off x="659623" y="4159472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Для получения панорамы отправляется </a:t>
            </a:r>
            <a:br>
              <a:rPr lang="ru-RU" dirty="0"/>
            </a:br>
            <a:r>
              <a:rPr lang="ru-RU" dirty="0"/>
              <a:t>HTTP-запрос.</a:t>
            </a:r>
            <a:endParaRPr dirty="0"/>
          </a:p>
        </p:txBody>
      </p:sp>
      <p:sp>
        <p:nvSpPr>
          <p:cNvPr id="783" name="Google Shape;783;p40"/>
          <p:cNvSpPr txBox="1">
            <a:spLocks noGrp="1"/>
          </p:cNvSpPr>
          <p:nvPr>
            <p:ph type="subTitle" idx="2"/>
          </p:nvPr>
        </p:nvSpPr>
        <p:spPr>
          <a:xfrm>
            <a:off x="659636" y="3526109"/>
            <a:ext cx="3512842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Формирование запроса</a:t>
            </a:r>
            <a:endParaRPr dirty="0"/>
          </a:p>
        </p:txBody>
      </p:sp>
      <p:sp>
        <p:nvSpPr>
          <p:cNvPr id="784" name="Google Shape;784;p40"/>
          <p:cNvSpPr txBox="1">
            <a:spLocks noGrp="1"/>
          </p:cNvSpPr>
          <p:nvPr>
            <p:ph type="body" idx="3"/>
          </p:nvPr>
        </p:nvSpPr>
        <p:spPr>
          <a:xfrm>
            <a:off x="4438461" y="4159484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В ответ на запрос API возвращает ссылку на панорамное изображение либо JSON-объект</a:t>
            </a:r>
            <a:r>
              <a:rPr lang="en" dirty="0"/>
              <a:t>.</a:t>
            </a:r>
            <a:endParaRPr dirty="0"/>
          </a:p>
        </p:txBody>
      </p:sp>
      <p:sp>
        <p:nvSpPr>
          <p:cNvPr id="785" name="Google Shape;785;p40"/>
          <p:cNvSpPr txBox="1">
            <a:spLocks noGrp="1"/>
          </p:cNvSpPr>
          <p:nvPr>
            <p:ph type="subTitle" idx="4"/>
          </p:nvPr>
        </p:nvSpPr>
        <p:spPr>
          <a:xfrm>
            <a:off x="4438435" y="3550564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Получение ответа</a:t>
            </a:r>
            <a:endParaRPr dirty="0"/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5"/>
          </p:nvPr>
        </p:nvSpPr>
        <p:spPr>
          <a:xfrm>
            <a:off x="8217300" y="4159472"/>
            <a:ext cx="33150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dirty="0"/>
              <a:t>Извлечённая информация используется для корректного отображения панорамы в интерфейсе игры.</a:t>
            </a:r>
            <a:endParaRPr dirty="0"/>
          </a:p>
        </p:txBody>
      </p:sp>
      <p:sp>
        <p:nvSpPr>
          <p:cNvPr id="787" name="Google Shape;787;p40"/>
          <p:cNvSpPr txBox="1">
            <a:spLocks noGrp="1"/>
          </p:cNvSpPr>
          <p:nvPr>
            <p:ph type="subTitle" idx="6"/>
          </p:nvPr>
        </p:nvSpPr>
        <p:spPr>
          <a:xfrm>
            <a:off x="8217273" y="3550559"/>
            <a:ext cx="3315000" cy="63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Обработка данных </a:t>
            </a:r>
            <a:endParaRPr dirty="0"/>
          </a:p>
        </p:txBody>
      </p:sp>
      <p:sp>
        <p:nvSpPr>
          <p:cNvPr id="788" name="Google Shape;788;p40"/>
          <p:cNvSpPr/>
          <p:nvPr/>
        </p:nvSpPr>
        <p:spPr>
          <a:xfrm>
            <a:off x="1886165" y="2501634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89" name="Google Shape;789;p40"/>
          <p:cNvSpPr/>
          <p:nvPr/>
        </p:nvSpPr>
        <p:spPr>
          <a:xfrm>
            <a:off x="5664990" y="2501634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90" name="Google Shape;790;p40"/>
          <p:cNvSpPr/>
          <p:nvPr/>
        </p:nvSpPr>
        <p:spPr>
          <a:xfrm>
            <a:off x="9443810" y="2501634"/>
            <a:ext cx="861900" cy="861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 sz="350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574F3AA-8514-82D1-48A8-5317C3A14AB7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Google Shape;555;p24">
            <a:extLst>
              <a:ext uri="{FF2B5EF4-FFF2-40B4-BE49-F238E27FC236}">
                <a16:creationId xmlns:a16="http://schemas.microsoft.com/office/drawing/2014/main" id="{BC782533-2234-41A6-0F5F-3648FF0352D6}"/>
              </a:ext>
            </a:extLst>
          </p:cNvPr>
          <p:cNvSpPr/>
          <p:nvPr/>
        </p:nvSpPr>
        <p:spPr>
          <a:xfrm>
            <a:off x="345392" y="607937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ru-RU" sz="96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  <a:endParaRPr sz="96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1F988-71C8-ABCD-51B1-A03216B2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Характеристика сервиса 1</a:t>
            </a:r>
            <a:r>
              <a:rPr lang="en-US" dirty="0"/>
              <a:t>panorama.ru</a:t>
            </a:r>
            <a:endParaRPr lang="LID4096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A4EBACF9-E9DE-02C9-94EB-920CE25E3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13732"/>
              </p:ext>
            </p:extLst>
          </p:nvPr>
        </p:nvGraphicFramePr>
        <p:xfrm>
          <a:off x="2032000" y="1740580"/>
          <a:ext cx="8127999" cy="38398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91788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32182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18560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Ограничение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Описание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2"/>
                          </a:solidFill>
                          <a:effectLst/>
                        </a:rPr>
                        <a:t>Влияние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7310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Модерация контента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Ручная модерация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Задержка публикации (1–3 дня), возможный отказ в размещении. Нет автоматической публикации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8250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Форматы и качество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Поддержка только стандартных 360°-форматов. 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Разрешение до 8K+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Нет жёсткого лимита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9274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Интерактивность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Базовые элементы (</a:t>
                      </a:r>
                      <a:r>
                        <a:rPr lang="en-US" sz="1200" dirty="0">
                          <a:effectLst/>
                        </a:rPr>
                        <a:t>hotspots, </a:t>
                      </a:r>
                      <a:r>
                        <a:rPr lang="ru-RU" sz="1200" dirty="0">
                          <a:effectLst/>
                        </a:rPr>
                        <a:t>текст, видео/аудио </a:t>
                      </a:r>
                      <a:r>
                        <a:rPr lang="en-US" sz="1200" dirty="0">
                          <a:effectLst/>
                        </a:rPr>
                        <a:t>embeds)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Достаточно для простых туров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1944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Географические ограничения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Оптимизировано для Беларуси/СНГ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В РФ/Беларуси — без проблем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3890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Реклама/брендинг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Нет водяных знаков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Фокус на чистом контенте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0216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</a:rPr>
                        <a:t>Хранение и доступ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Файлы хранятся бессрочно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Нет квот на трафик, при пиковых нагрузках — замедление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9000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1" dirty="0">
                          <a:effectLst/>
                        </a:rPr>
                        <a:t>Другие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Нет мобильного приложения,  только веб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Базовая безопасность, </a:t>
                      </a:r>
                      <a:br>
                        <a:rPr lang="ru-RU" sz="1200" dirty="0">
                          <a:effectLst/>
                        </a:rPr>
                      </a:br>
                      <a:r>
                        <a:rPr lang="ru-RU" sz="1200" dirty="0">
                          <a:effectLst/>
                        </a:rPr>
                        <a:t>нет аналитики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819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39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587A46D2-552E-911F-9D26-AB7BB898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>
            <a:extLst>
              <a:ext uri="{FF2B5EF4-FFF2-40B4-BE49-F238E27FC236}">
                <a16:creationId xmlns:a16="http://schemas.microsoft.com/office/drawing/2014/main" id="{4E8FD801-1947-2C3B-544B-97AE053D0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14900" y="2996839"/>
            <a:ext cx="8962200" cy="28091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b="1" dirty="0"/>
              <a:t>Суть игры: </a:t>
            </a:r>
            <a:r>
              <a:rPr lang="ru-RU" sz="2000" dirty="0"/>
              <a:t>пользователь попадает в случайное место в Беларуси (панорама). Он может перемещаться, осматриваться вокруг. 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b="1" dirty="0"/>
              <a:t>Задача игрока: </a:t>
            </a:r>
            <a:r>
              <a:rPr lang="ru-RU" sz="2000" dirty="0"/>
              <a:t>понять, в каком месте он находится, и отметить это место на карте. Чем ближе метка пользователя к реальному месту, тем больше очков получает игрок.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b="1" dirty="0"/>
              <a:t>Цель игры: </a:t>
            </a:r>
            <a:r>
              <a:rPr lang="ru-RU" sz="2000" dirty="0"/>
              <a:t>набрать максимальное количество очков.</a:t>
            </a:r>
            <a:endParaRPr sz="2000" dirty="0"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F770F4D6-7859-5852-7097-12FDB9811D6C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ru-RU" sz="90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</a:t>
            </a:r>
            <a:endParaRPr sz="90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C7017A-F356-AD97-74E5-6005406D43C8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8A427229-6972-1DB7-A808-C60A28943F64}"/>
              </a:ext>
            </a:extLst>
          </p:cNvPr>
          <p:cNvSpPr txBox="1">
            <a:spLocks/>
          </p:cNvSpPr>
          <p:nvPr/>
        </p:nvSpPr>
        <p:spPr>
          <a:xfrm>
            <a:off x="3445703" y="701895"/>
            <a:ext cx="5388999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indent="0">
              <a:spcAft>
                <a:spcPts val="1600"/>
              </a:spcAft>
              <a:buFont typeface="Poppins Light"/>
              <a:buNone/>
            </a:pPr>
            <a:r>
              <a:rPr lang="ru-RU" sz="4500" dirty="0"/>
              <a:t>Создание игры </a:t>
            </a:r>
            <a:r>
              <a:rPr lang="en-US" sz="4500" b="1" dirty="0" err="1"/>
              <a:t>BelGuessr</a:t>
            </a:r>
            <a:endParaRPr lang="be-BY" sz="4500" b="1" dirty="0"/>
          </a:p>
          <a:p>
            <a:pPr marL="0" indent="0">
              <a:spcAft>
                <a:spcPts val="1600"/>
              </a:spcAft>
              <a:buFont typeface="Poppins Light"/>
              <a:buNone/>
            </a:pPr>
            <a:endParaRPr lang="en-US" sz="4500" b="1" dirty="0"/>
          </a:p>
        </p:txBody>
      </p:sp>
    </p:spTree>
    <p:extLst>
      <p:ext uri="{BB962C8B-B14F-4D97-AF65-F5344CB8AC3E}">
        <p14:creationId xmlns:p14="http://schemas.microsoft.com/office/powerpoint/2010/main" val="357481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>
          <a:extLst>
            <a:ext uri="{FF2B5EF4-FFF2-40B4-BE49-F238E27FC236}">
              <a16:creationId xmlns:a16="http://schemas.microsoft.com/office/drawing/2014/main" id="{36350F4E-987C-A775-BCB4-00F57EB3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>
            <a:extLst>
              <a:ext uri="{FF2B5EF4-FFF2-40B4-BE49-F238E27FC236}">
                <a16:creationId xmlns:a16="http://schemas.microsoft.com/office/drawing/2014/main" id="{4BE7A554-4D83-3BB7-E366-4D4CFBB73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14900" y="2996839"/>
            <a:ext cx="8962200" cy="28091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1400" b="1" dirty="0"/>
              <a:t>HTML5 + CSS3</a:t>
            </a:r>
            <a:r>
              <a:rPr lang="ru-RU" sz="1400" dirty="0"/>
              <a:t> – структура документа, адаптивная вёрстка, визуальные эффекты и анимации (</a:t>
            </a:r>
            <a:r>
              <a:rPr lang="ru-RU" sz="1400" dirty="0" err="1"/>
              <a:t>transitions</a:t>
            </a:r>
            <a:r>
              <a:rPr lang="ru-RU" sz="1400" dirty="0"/>
              <a:t>, </a:t>
            </a:r>
            <a:r>
              <a:rPr lang="ru-RU" sz="1400" dirty="0" err="1"/>
              <a:t>hover</a:t>
            </a:r>
            <a:r>
              <a:rPr lang="ru-RU" sz="1400" dirty="0"/>
              <a:t>-увеличение карты);</a:t>
            </a:r>
          </a:p>
          <a:p>
            <a:r>
              <a:rPr lang="ru-RU" sz="1400" b="1" dirty="0"/>
              <a:t>JavaScript</a:t>
            </a:r>
            <a:r>
              <a:rPr lang="ru-RU" sz="1400" dirty="0"/>
              <a:t> – вся клиентская логика игры, обработка событий, таймер и расчёт очков;</a:t>
            </a:r>
          </a:p>
          <a:p>
            <a:r>
              <a:rPr lang="ru-RU" sz="1400" b="1" dirty="0"/>
              <a:t>Google Maps JavaScript API</a:t>
            </a:r>
            <a:r>
              <a:rPr lang="ru-RU" sz="1400" dirty="0"/>
              <a:t> – отображение интерактивной карты, Street View панорам, маркеров, линий и анимаций;</a:t>
            </a:r>
          </a:p>
          <a:p>
            <a:r>
              <a:rPr lang="ru-RU" sz="1400" b="1" dirty="0"/>
              <a:t>Google Maps </a:t>
            </a:r>
            <a:r>
              <a:rPr lang="ru-RU" sz="1400" b="1" dirty="0" err="1"/>
              <a:t>Geometry</a:t>
            </a:r>
            <a:r>
              <a:rPr lang="ru-RU" sz="1400" b="1" dirty="0"/>
              <a:t> Library</a:t>
            </a:r>
            <a:r>
              <a:rPr lang="ru-RU" sz="1400" dirty="0"/>
              <a:t> – точный расчёт сферического расстояния между точками;</a:t>
            </a:r>
          </a:p>
          <a:p>
            <a:r>
              <a:rPr lang="ru-RU" sz="1400" b="1" dirty="0"/>
              <a:t>Web Storage API (</a:t>
            </a:r>
            <a:r>
              <a:rPr lang="ru-RU" sz="1400" b="1" dirty="0" err="1"/>
              <a:t>localStorage</a:t>
            </a:r>
            <a:r>
              <a:rPr lang="ru-RU" sz="1400" b="1" dirty="0"/>
              <a:t>)</a:t>
            </a:r>
            <a:r>
              <a:rPr lang="ru-RU" sz="1400" dirty="0"/>
              <a:t> – персистентное хранение топ-5 результатов по каждой локации;</a:t>
            </a:r>
          </a:p>
          <a:p>
            <a:r>
              <a:rPr lang="ru-RU" sz="1400" b="1" dirty="0"/>
              <a:t>Google Maps Animation API</a:t>
            </a:r>
            <a:r>
              <a:rPr lang="ru-RU" sz="1400" dirty="0"/>
              <a:t> – анимация падения маркера и плавное появление соединительной линии.</a:t>
            </a:r>
          </a:p>
          <a:p>
            <a:pPr marL="88900" indent="0">
              <a:buNone/>
            </a:pPr>
            <a:r>
              <a:rPr lang="ru-RU" sz="1400" dirty="0"/>
              <a:t>Все компоненты работают полностью на стороне клиента без серверной части.</a:t>
            </a:r>
            <a:endParaRPr lang="ru-RU" sz="1400" dirty="0">
              <a:effectLst/>
            </a:endParaRPr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8A234588-FE62-2DB3-3864-2E91D0148249}"/>
              </a:ext>
            </a:extLst>
          </p:cNvPr>
          <p:cNvSpPr/>
          <p:nvPr/>
        </p:nvSpPr>
        <p:spPr>
          <a:xfrm>
            <a:off x="1614900" y="945725"/>
            <a:ext cx="1742400" cy="174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ru-RU" sz="90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</a:t>
            </a:r>
            <a:endParaRPr sz="90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44BFA7-04D3-8A32-E09C-678B1900D8B4}"/>
              </a:ext>
            </a:extLst>
          </p:cNvPr>
          <p:cNvSpPr/>
          <p:nvPr/>
        </p:nvSpPr>
        <p:spPr>
          <a:xfrm>
            <a:off x="11110" y="5497514"/>
            <a:ext cx="134940" cy="1346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</a:endParaRPr>
          </a:p>
          <a:p>
            <a:pPr algn="ctr"/>
            <a:endParaRPr lang="LID4096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Google Shape;554;p24">
            <a:extLst>
              <a:ext uri="{FF2B5EF4-FFF2-40B4-BE49-F238E27FC236}">
                <a16:creationId xmlns:a16="http://schemas.microsoft.com/office/drawing/2014/main" id="{A3BCB98C-F729-EC29-1AF7-C407AC74F5E4}"/>
              </a:ext>
            </a:extLst>
          </p:cNvPr>
          <p:cNvSpPr txBox="1">
            <a:spLocks/>
          </p:cNvSpPr>
          <p:nvPr/>
        </p:nvSpPr>
        <p:spPr>
          <a:xfrm>
            <a:off x="3445703" y="701895"/>
            <a:ext cx="5388999" cy="111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●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○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oppins Light"/>
              <a:buChar char="■"/>
              <a:defRPr sz="2200" b="0" i="0" u="none" strike="noStrike" cap="none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88900" indent="0">
              <a:buNone/>
            </a:pPr>
            <a:r>
              <a:rPr lang="ru-RU" sz="4800" dirty="0"/>
              <a:t>Используемые технологии:</a:t>
            </a:r>
            <a:endParaRPr lang="en-US" sz="4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D13F9-1B4C-2C33-636E-961782CDAA4F}"/>
              </a:ext>
            </a:extLst>
          </p:cNvPr>
          <p:cNvSpPr txBox="1"/>
          <p:nvPr/>
        </p:nvSpPr>
        <p:spPr>
          <a:xfrm>
            <a:off x="146050" y="6289416"/>
            <a:ext cx="69556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>
                <a:hlinkClick r:id="rId3"/>
              </a:rPr>
              <a:t>BelGuessr</a:t>
            </a:r>
            <a:r>
              <a:rPr lang="be-BY" sz="2200" dirty="0"/>
              <a:t> </a:t>
            </a:r>
            <a:endParaRPr lang="LID4096" sz="2200" dirty="0"/>
          </a:p>
        </p:txBody>
      </p:sp>
    </p:spTree>
    <p:extLst>
      <p:ext uri="{BB962C8B-B14F-4D97-AF65-F5344CB8AC3E}">
        <p14:creationId xmlns:p14="http://schemas.microsoft.com/office/powerpoint/2010/main" val="3061671724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481F48"/>
      </a:dk1>
      <a:lt1>
        <a:srgbClr val="FCECDE"/>
      </a:lt1>
      <a:dk2>
        <a:srgbClr val="0B032D"/>
      </a:dk2>
      <a:lt2>
        <a:srgbClr val="EEEEEE"/>
      </a:lt2>
      <a:accent1>
        <a:srgbClr val="0B032D"/>
      </a:accent1>
      <a:accent2>
        <a:srgbClr val="481F48"/>
      </a:accent2>
      <a:accent3>
        <a:srgbClr val="843B62"/>
      </a:accent3>
      <a:accent4>
        <a:srgbClr val="F67E7D"/>
      </a:accent4>
      <a:accent5>
        <a:srgbClr val="FFB997"/>
      </a:accent5>
      <a:accent6>
        <a:srgbClr val="FB9C8A"/>
      </a:accent6>
      <a:hlink>
        <a:srgbClr val="F67E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1156</Words>
  <Application>Microsoft Office PowerPoint</Application>
  <PresentationFormat>Широкоэкранный</PresentationFormat>
  <Paragraphs>229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Times New Roman</vt:lpstr>
      <vt:lpstr>Aptos Display</vt:lpstr>
      <vt:lpstr>Poppins Light</vt:lpstr>
      <vt:lpstr>Calibri</vt:lpstr>
      <vt:lpstr>Arial</vt:lpstr>
      <vt:lpstr>Poppins ExtraBold</vt:lpstr>
      <vt:lpstr>Poppins</vt:lpstr>
      <vt:lpstr>SlidesMania Template</vt:lpstr>
      <vt:lpstr>Лучшее –  враг хорошего</vt:lpstr>
      <vt:lpstr>Цель работы:</vt:lpstr>
      <vt:lpstr>Объект исследования: </vt:lpstr>
      <vt:lpstr>Гипотеза исследования: </vt:lpstr>
      <vt:lpstr>Основные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Исследование взаимодействия</vt:lpstr>
      <vt:lpstr>Взаимодействие с сервисом 1panorama.ru</vt:lpstr>
      <vt:lpstr>Характеристика сервиса 1panorama.ru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bohdan bohdan</cp:lastModifiedBy>
  <cp:revision>11</cp:revision>
  <dcterms:modified xsi:type="dcterms:W3CDTF">2025-11-24T08:15:25Z</dcterms:modified>
</cp:coreProperties>
</file>